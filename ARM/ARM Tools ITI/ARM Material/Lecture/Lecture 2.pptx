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95" r:id="rId2"/>
    <p:sldId id="397" r:id="rId3"/>
    <p:sldId id="421" r:id="rId4"/>
    <p:sldId id="398" r:id="rId5"/>
    <p:sldId id="399" r:id="rId6"/>
    <p:sldId id="400" r:id="rId7"/>
    <p:sldId id="401" r:id="rId8"/>
    <p:sldId id="402" r:id="rId9"/>
    <p:sldId id="403" r:id="rId10"/>
    <p:sldId id="396" r:id="rId11"/>
    <p:sldId id="427" r:id="rId12"/>
    <p:sldId id="406" r:id="rId13"/>
    <p:sldId id="405" r:id="rId14"/>
    <p:sldId id="407" r:id="rId15"/>
    <p:sldId id="422" r:id="rId16"/>
    <p:sldId id="408" r:id="rId17"/>
    <p:sldId id="409" r:id="rId18"/>
    <p:sldId id="423" r:id="rId19"/>
    <p:sldId id="410" r:id="rId20"/>
    <p:sldId id="424" r:id="rId21"/>
    <p:sldId id="425" r:id="rId22"/>
    <p:sldId id="426" r:id="rId23"/>
    <p:sldId id="404" r:id="rId24"/>
    <p:sldId id="296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0284" autoAdjust="0"/>
  </p:normalViewPr>
  <p:slideViewPr>
    <p:cSldViewPr>
      <p:cViewPr varScale="1">
        <p:scale>
          <a:sx n="47" d="100"/>
          <a:sy n="47" d="100"/>
        </p:scale>
        <p:origin x="-1804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A8C5EA-8DAD-4B80-9FEF-C03E3F2EAE0E}" type="datetimeFigureOut">
              <a:rPr lang="en-US" smtClean="0"/>
              <a:t>5/12/2018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FB8CD1-068E-4176-930F-B6EC7CC19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847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FB8CD1-068E-4176-930F-B6EC7CC19DB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15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CPS</a:t>
            </a:r>
            <a:r>
              <a:rPr lang="en-US" baseline="0" dirty="0" smtClean="0"/>
              <a:t> -&gt; Change Processor State</a:t>
            </a:r>
          </a:p>
          <a:p>
            <a:r>
              <a:rPr lang="en-US" baseline="0" dirty="0" smtClean="0"/>
              <a:t>Flags -&gt; IE  -&gt; Interrupt Enable</a:t>
            </a:r>
          </a:p>
          <a:p>
            <a:r>
              <a:rPr lang="en-US" baseline="0" dirty="0" smtClean="0"/>
              <a:t>             ID -&gt; Interrupt Disable</a:t>
            </a:r>
          </a:p>
          <a:p>
            <a:r>
              <a:rPr lang="en-US" baseline="0" dirty="0" smtClean="0"/>
              <a:t>MSR -&gt; Move from </a:t>
            </a:r>
            <a:r>
              <a:rPr lang="en-US" baseline="0" dirty="0" err="1" smtClean="0"/>
              <a:t>gpR</a:t>
            </a:r>
            <a:r>
              <a:rPr lang="en-US" baseline="0" dirty="0" smtClean="0"/>
              <a:t> to Special Register</a:t>
            </a:r>
          </a:p>
          <a:p>
            <a:r>
              <a:rPr lang="en-US" baseline="0" dirty="0" smtClean="0"/>
              <a:t>MRS -&gt; Mover from Special Register to </a:t>
            </a:r>
            <a:r>
              <a:rPr lang="en-US" baseline="0" dirty="0" err="1" smtClean="0"/>
              <a:t>gpR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FB8CD1-068E-4176-930F-B6EC7CC19DB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158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FB8CD1-068E-4176-930F-B6EC7CC19DB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158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FB8CD1-068E-4176-930F-B6EC7CC19DB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15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623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53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540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513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729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487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629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91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622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57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40B00-2224-4A96-92D8-9FF01C13E9BE}" type="datetimeFigureOut">
              <a:rPr lang="en-US" smtClean="0"/>
              <a:t>5/12/2018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379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40B00-2224-4A96-92D8-9FF01C13E9BE}" type="datetimeFigureOut">
              <a:rPr lang="en-US" smtClean="0"/>
              <a:t>5/12/2018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4797D8-AAFC-47EB-8095-2547FC9285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504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81000"/>
            <a:ext cx="4515255" cy="2790508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2587726" y="3276600"/>
            <a:ext cx="4128053" cy="193899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  <a:latin typeface="Bradley Hand ITC" pitchFamily="66" charset="0"/>
              </a:rPr>
              <a:t>ARM Processor Model</a:t>
            </a:r>
          </a:p>
          <a:p>
            <a:pPr algn="ctr"/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  <a:p>
            <a:pPr algn="ctr"/>
            <a:r>
              <a:rPr lang="en-US" sz="2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  <a:latin typeface="Bradley Hand ITC" pitchFamily="66" charset="0"/>
              </a:rPr>
              <a:t>Lecture 2</a:t>
            </a:r>
          </a:p>
          <a:p>
            <a:pPr algn="ctr"/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  <a:p>
            <a:pPr algn="ctr"/>
            <a:r>
              <a:rPr lang="en-US" sz="24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  <a:latin typeface="Bradley Hand ITC" pitchFamily="66" charset="0"/>
              </a:rPr>
              <a:t>Introduction to ARM Processor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5943600"/>
            <a:ext cx="678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 smtClean="0"/>
              <a:t>This material is developed by </a:t>
            </a:r>
            <a:r>
              <a:rPr lang="en-US" sz="1200" b="1" i="1" dirty="0" err="1" smtClean="0"/>
              <a:t>IMTSchool</a:t>
            </a:r>
            <a:r>
              <a:rPr lang="en-US" sz="1200" b="1" i="1" dirty="0" smtClean="0"/>
              <a:t> for educational use only</a:t>
            </a:r>
          </a:p>
          <a:p>
            <a:pPr algn="ctr"/>
            <a:r>
              <a:rPr lang="en-US" sz="1200" b="1" i="1" dirty="0" smtClean="0"/>
              <a:t>All copyrights are reserved</a:t>
            </a:r>
            <a:endParaRPr lang="en-US" sz="1200" b="1" i="1" dirty="0"/>
          </a:p>
        </p:txBody>
      </p:sp>
    </p:spTree>
    <p:extLst>
      <p:ext uri="{BB962C8B-B14F-4D97-AF65-F5344CB8AC3E}">
        <p14:creationId xmlns:p14="http://schemas.microsoft.com/office/powerpoint/2010/main" val="2907544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104851" y="406117"/>
            <a:ext cx="493436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ARM Cortex M3/M4 Processor Model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09800" y="2095500"/>
            <a:ext cx="1143000" cy="16383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Fetching Circuit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3352800" y="2095500"/>
            <a:ext cx="1219200" cy="16383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Instruction Decoder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4572000" y="2095500"/>
            <a:ext cx="1219200" cy="16383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ALU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5791200" y="2095500"/>
            <a:ext cx="1219200" cy="16383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Register File</a:t>
            </a:r>
            <a:endParaRPr lang="en-US" dirty="0"/>
          </a:p>
        </p:txBody>
      </p:sp>
      <p:sp>
        <p:nvSpPr>
          <p:cNvPr id="17" name="Rectangle 16"/>
          <p:cNvSpPr/>
          <p:nvPr/>
        </p:nvSpPr>
        <p:spPr>
          <a:xfrm>
            <a:off x="1066800" y="2095500"/>
            <a:ext cx="1143000" cy="16383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NVIC</a:t>
            </a:r>
            <a:endParaRPr lang="en-US" dirty="0"/>
          </a:p>
        </p:txBody>
      </p:sp>
      <p:sp>
        <p:nvSpPr>
          <p:cNvPr id="4" name="L-Shape 3"/>
          <p:cNvSpPr/>
          <p:nvPr/>
        </p:nvSpPr>
        <p:spPr>
          <a:xfrm rot="16200000">
            <a:off x="5543550" y="2114547"/>
            <a:ext cx="2628901" cy="2590799"/>
          </a:xfrm>
          <a:prstGeom prst="corner">
            <a:avLst>
              <a:gd name="adj1" fmla="val 41995"/>
              <a:gd name="adj2" fmla="val 38366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Debug System</a:t>
            </a:r>
            <a:endParaRPr lang="en-US" dirty="0"/>
          </a:p>
        </p:txBody>
      </p:sp>
      <p:sp>
        <p:nvSpPr>
          <p:cNvPr id="18" name="Rectangle 17"/>
          <p:cNvSpPr/>
          <p:nvPr/>
        </p:nvSpPr>
        <p:spPr>
          <a:xfrm>
            <a:off x="1066799" y="3733800"/>
            <a:ext cx="2895601" cy="9906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Memory Protection Unit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3941323" y="3741906"/>
            <a:ext cx="1621278" cy="98249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System Tick Timer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84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666971" y="406117"/>
            <a:ext cx="181011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Register File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4635500" cy="317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029200"/>
            <a:ext cx="40386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705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810169" y="406117"/>
            <a:ext cx="352372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General Purpose Registers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2085403"/>
              </p:ext>
            </p:extLst>
          </p:nvPr>
        </p:nvGraphicFramePr>
        <p:xfrm>
          <a:off x="1600200" y="1371600"/>
          <a:ext cx="609600" cy="29667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09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R0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R1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R2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R3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R4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R5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R6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R7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687184"/>
              </p:ext>
            </p:extLst>
          </p:nvPr>
        </p:nvGraphicFramePr>
        <p:xfrm>
          <a:off x="1600200" y="4495800"/>
          <a:ext cx="609600" cy="18440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09600"/>
              </a:tblGrid>
              <a:tr h="1473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R8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32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200" dirty="0" smtClean="0"/>
                        <a:t>R9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200" dirty="0" smtClean="0"/>
                        <a:t>R10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200" dirty="0" smtClean="0"/>
                        <a:t>R11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800" b="0" kern="1200" dirty="0" smtClean="0"/>
                        <a:t>R12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Left Brace 2"/>
          <p:cNvSpPr/>
          <p:nvPr/>
        </p:nvSpPr>
        <p:spPr>
          <a:xfrm>
            <a:off x="914400" y="1371600"/>
            <a:ext cx="533400" cy="297180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/>
          <p:cNvSpPr/>
          <p:nvPr/>
        </p:nvSpPr>
        <p:spPr>
          <a:xfrm>
            <a:off x="914400" y="4495800"/>
            <a:ext cx="533400" cy="1828800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 rot="16200000">
            <a:off x="-184666" y="2558534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gency FB" pitchFamily="34" charset="0"/>
              </a:rPr>
              <a:t>Low Level Registers</a:t>
            </a:r>
            <a:endParaRPr lang="en-US" dirty="0">
              <a:latin typeface="Agency FB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 rot="16200000">
            <a:off x="-196333" y="5225534"/>
            <a:ext cx="1676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gency FB" pitchFamily="34" charset="0"/>
              </a:rPr>
              <a:t>High Level Registers</a:t>
            </a:r>
            <a:endParaRPr lang="en-US" dirty="0">
              <a:latin typeface="Agency FB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67000" y="1676400"/>
            <a:ext cx="5791200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These registers are used for data operations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Registers from R0 to R7 are called </a:t>
            </a:r>
            <a:r>
              <a:rPr lang="en-US" b="1" i="1" dirty="0" smtClean="0">
                <a:solidFill>
                  <a:srgbClr val="FF0000"/>
                </a:solidFill>
              </a:rPr>
              <a:t>Low Level Registers </a:t>
            </a:r>
            <a:r>
              <a:rPr lang="en-US" dirty="0" smtClean="0"/>
              <a:t>because they are represented only by 3 bits ( 0 To 7 ). Therefor they are used mainly by  the 16 bit instructions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Registers from R8 to R12 are called </a:t>
            </a:r>
            <a:r>
              <a:rPr lang="en-US" b="1" i="1" dirty="0" smtClean="0">
                <a:solidFill>
                  <a:srgbClr val="FF0000"/>
                </a:solidFill>
              </a:rPr>
              <a:t>High Level Registers </a:t>
            </a:r>
            <a:r>
              <a:rPr lang="en-US" dirty="0" smtClean="0"/>
              <a:t>because they are represented by 4 bits. All of the 32 bit instructions  can access these registers while Few of the 16 bit instructions can access these registers.</a:t>
            </a:r>
          </a:p>
          <a:p>
            <a:pPr marL="285750" indent="-285750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The initial value of these registers are not defined !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84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270230" y="406117"/>
            <a:ext cx="260359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Stack Pointer R13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57200" y="1371600"/>
            <a:ext cx="7924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Physically there are 2 stack pointers, </a:t>
            </a:r>
            <a:r>
              <a:rPr lang="en-US" b="1" i="1" dirty="0" smtClean="0">
                <a:solidFill>
                  <a:srgbClr val="FF0000"/>
                </a:solidFill>
              </a:rPr>
              <a:t>Main Stack Pointer  </a:t>
            </a:r>
            <a:r>
              <a:rPr lang="en-US" sz="200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MSP</a:t>
            </a:r>
            <a:r>
              <a:rPr lang="en-US" dirty="0" smtClean="0"/>
              <a:t> and </a:t>
            </a:r>
            <a:r>
              <a:rPr lang="en-US" b="1" i="1" dirty="0" smtClean="0">
                <a:solidFill>
                  <a:srgbClr val="FF0000"/>
                </a:solidFill>
              </a:rPr>
              <a:t>Process Stack Pointer  </a:t>
            </a: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PSP</a:t>
            </a:r>
            <a:r>
              <a:rPr lang="en-US" dirty="0" smtClean="0"/>
              <a:t>. The R13 is pointing to one of them.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>
          <a:xfrm>
            <a:off x="1524000" y="2971800"/>
            <a:ext cx="2209800" cy="3810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MSP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105400" y="2961262"/>
            <a:ext cx="2209800" cy="38100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PSP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38600" y="2209800"/>
            <a:ext cx="685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R13</a:t>
            </a:r>
            <a:endParaRPr lang="en-US" sz="2400" b="1" dirty="0"/>
          </a:p>
        </p:txBody>
      </p:sp>
      <p:cxnSp>
        <p:nvCxnSpPr>
          <p:cNvPr id="8" name="Straight Arrow Connector 7"/>
          <p:cNvCxnSpPr>
            <a:stCxn id="4" idx="1"/>
          </p:cNvCxnSpPr>
          <p:nvPr/>
        </p:nvCxnSpPr>
        <p:spPr>
          <a:xfrm flipH="1">
            <a:off x="2628900" y="2440633"/>
            <a:ext cx="1409700" cy="4549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4648200" y="2438400"/>
            <a:ext cx="12954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28800" y="3429000"/>
            <a:ext cx="139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Agency FB" pitchFamily="34" charset="0"/>
              </a:rPr>
              <a:t>Control [1] </a:t>
            </a:r>
            <a:r>
              <a:rPr lang="en-US" b="1" dirty="0">
                <a:latin typeface="Agency FB" pitchFamily="34" charset="0"/>
              </a:rPr>
              <a:t>= </a:t>
            </a:r>
            <a:r>
              <a:rPr lang="en-US" b="1" dirty="0" smtClean="0">
                <a:latin typeface="Agency FB" pitchFamily="34" charset="0"/>
              </a:rPr>
              <a:t>0</a:t>
            </a:r>
            <a:endParaRPr lang="en-US" b="1" dirty="0">
              <a:latin typeface="Agency FB" pitchFamily="3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20079" y="3429000"/>
            <a:ext cx="139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Agency FB" pitchFamily="34" charset="0"/>
              </a:rPr>
              <a:t>Control [1] </a:t>
            </a:r>
            <a:r>
              <a:rPr lang="en-US" b="1" dirty="0">
                <a:latin typeface="Agency FB" pitchFamily="34" charset="0"/>
              </a:rPr>
              <a:t>= </a:t>
            </a:r>
            <a:r>
              <a:rPr lang="en-US" b="1" dirty="0" smtClean="0">
                <a:latin typeface="Agency FB" pitchFamily="34" charset="0"/>
              </a:rPr>
              <a:t>1</a:t>
            </a:r>
            <a:endParaRPr lang="en-US" b="1" dirty="0">
              <a:latin typeface="Agency FB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4800" y="4147572"/>
            <a:ext cx="8382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MSP</a:t>
            </a:r>
            <a:r>
              <a:rPr lang="en-US" dirty="0" smtClean="0"/>
              <a:t> is the default stack pointer, the processor uses it by default after reset.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Changing the stack the pointer is done by changing bit 1 in the </a:t>
            </a: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control</a:t>
            </a:r>
            <a:r>
              <a:rPr lang="en-US" dirty="0" smtClean="0"/>
              <a:t> register.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 smtClean="0"/>
              <a:t>The processor uses the </a:t>
            </a: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MSP</a:t>
            </a:r>
            <a:r>
              <a:rPr lang="en-US" dirty="0" smtClean="0"/>
              <a:t> always when executing the exception handler.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84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244582" y="406117"/>
            <a:ext cx="265489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Link Register R14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792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It </a:t>
            </a:r>
            <a:r>
              <a:rPr lang="en-US" dirty="0"/>
              <a:t>stores the return information for </a:t>
            </a:r>
            <a:r>
              <a:rPr lang="en-US" dirty="0" smtClean="0"/>
              <a:t>function calls </a:t>
            </a:r>
            <a:r>
              <a:rPr lang="en-US" dirty="0"/>
              <a:t>and exceptions. On reset, the processor sets the LR value to </a:t>
            </a:r>
            <a:r>
              <a:rPr lang="en-US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0xFFFFFFFF</a:t>
            </a:r>
            <a:r>
              <a:rPr lang="en-US" dirty="0"/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2069068"/>
            <a:ext cx="5366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rgbClr val="FF0000"/>
                </a:solidFill>
              </a:rPr>
              <a:t>Branch(B) </a:t>
            </a:r>
            <a:r>
              <a:rPr lang="en-US" b="1" u="sng" dirty="0" err="1">
                <a:solidFill>
                  <a:srgbClr val="FF0000"/>
                </a:solidFill>
              </a:rPr>
              <a:t>vs</a:t>
            </a:r>
            <a:r>
              <a:rPr lang="en-US" b="1" u="sng" dirty="0">
                <a:solidFill>
                  <a:srgbClr val="FF0000"/>
                </a:solidFill>
              </a:rPr>
              <a:t> Branch With Link(BL</a:t>
            </a:r>
            <a:r>
              <a:rPr lang="en-US" b="1" u="sng" dirty="0" smtClean="0">
                <a:solidFill>
                  <a:srgbClr val="FF0000"/>
                </a:solidFill>
              </a:rPr>
              <a:t>) :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199" y="2438400"/>
            <a:ext cx="495300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The </a:t>
            </a:r>
            <a:r>
              <a:rPr lang="en-US" dirty="0"/>
              <a:t>Cortex-M architecture supports two </a:t>
            </a:r>
            <a:r>
              <a:rPr lang="en-US" dirty="0" smtClean="0"/>
              <a:t>similar instructions: </a:t>
            </a:r>
            <a:r>
              <a:rPr lang="en-US" dirty="0"/>
              <a:t>B and BL.  </a:t>
            </a:r>
            <a:endParaRPr lang="en-US" dirty="0" smtClean="0"/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 Instruction </a:t>
            </a:r>
            <a:r>
              <a:rPr lang="en-US" dirty="0" smtClean="0"/>
              <a:t>allows </a:t>
            </a:r>
            <a:r>
              <a:rPr lang="en-US" dirty="0"/>
              <a:t>the user </a:t>
            </a:r>
            <a:r>
              <a:rPr lang="en-US" dirty="0" smtClean="0"/>
              <a:t>to branch to </a:t>
            </a:r>
            <a:r>
              <a:rPr lang="en-US" dirty="0"/>
              <a:t>an instruction  that does not immediately follow the current </a:t>
            </a:r>
            <a:r>
              <a:rPr lang="en-US" dirty="0" smtClean="0"/>
              <a:t>instruction</a:t>
            </a:r>
            <a:r>
              <a:rPr lang="en-US" dirty="0"/>
              <a:t> </a:t>
            </a:r>
            <a:r>
              <a:rPr lang="en-US" dirty="0" smtClean="0"/>
              <a:t>without saving any information about the current address.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BL Instruction </a:t>
            </a:r>
            <a:r>
              <a:rPr lang="en-US" dirty="0" smtClean="0"/>
              <a:t>saves </a:t>
            </a:r>
            <a:r>
              <a:rPr lang="en-US" dirty="0"/>
              <a:t>the address of the instruction immediately following the BL command into the Link Register (R14).   By storing the address of the next instruction into the link register, a function can “return” by moving the contents of the LR back into the PC using the BX </a:t>
            </a:r>
            <a:r>
              <a:rPr lang="en-US" dirty="0" smtClean="0"/>
              <a:t>(Branch and Exchange) command.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987830"/>
              </p:ext>
            </p:extLst>
          </p:nvPr>
        </p:nvGraphicFramePr>
        <p:xfrm>
          <a:off x="5638800" y="2801699"/>
          <a:ext cx="990600" cy="27686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990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/*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smtClean="0"/>
                        <a:t>Some Code 1</a:t>
                      </a:r>
                      <a:endParaRPr lang="en-US" sz="12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0" dirty="0" smtClean="0"/>
                        <a:t>*/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Func();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/*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smtClean="0"/>
                        <a:t>Some Code 2</a:t>
                      </a:r>
                      <a:endParaRPr lang="en-US" sz="1200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b="0" dirty="0" smtClean="0"/>
                        <a:t>*/</a:t>
                      </a:r>
                      <a:endParaRPr lang="en-US" b="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696200" y="3695700"/>
            <a:ext cx="914400" cy="847928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Func</a:t>
            </a:r>
            <a:endParaRPr lang="en-US" dirty="0"/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6629400" y="3695700"/>
            <a:ext cx="1066800" cy="2667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6629400" y="4520930"/>
            <a:ext cx="1131651" cy="19050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86400" y="2667000"/>
            <a:ext cx="3200400" cy="31242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6477000" y="2297668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Example</a:t>
            </a:r>
            <a:endParaRPr lang="en-US" b="1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 rot="20710222">
            <a:off x="6702355" y="3049075"/>
            <a:ext cx="1295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 smtClean="0">
                <a:solidFill>
                  <a:srgbClr val="FF0000"/>
                </a:solidFill>
              </a:rPr>
              <a:t>LR</a:t>
            </a:r>
            <a:r>
              <a:rPr lang="en-US" sz="1050" dirty="0" smtClean="0"/>
              <a:t> </a:t>
            </a:r>
            <a:r>
              <a:rPr lang="en-US" sz="105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&lt;-</a:t>
            </a:r>
            <a:r>
              <a:rPr lang="en-US" sz="1050" dirty="0" smtClean="0"/>
              <a:t> address of 1</a:t>
            </a:r>
            <a:r>
              <a:rPr lang="en-US" sz="1050" baseline="30000" dirty="0" smtClean="0"/>
              <a:t>st</a:t>
            </a:r>
            <a:r>
              <a:rPr lang="en-US" sz="1050" dirty="0" smtClean="0"/>
              <a:t> instruction in code2</a:t>
            </a:r>
          </a:p>
          <a:p>
            <a:r>
              <a:rPr lang="en-US" sz="1050" b="1" dirty="0">
                <a:solidFill>
                  <a:srgbClr val="FF0000"/>
                </a:solidFill>
              </a:rPr>
              <a:t>PC</a:t>
            </a:r>
            <a:r>
              <a:rPr lang="en-US" sz="1050" dirty="0"/>
              <a:t> </a:t>
            </a:r>
            <a:r>
              <a:rPr lang="en-US" sz="105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&lt;-</a:t>
            </a:r>
            <a:r>
              <a:rPr lang="en-US" sz="1050" dirty="0"/>
              <a:t> address of 1st instruction in Func</a:t>
            </a:r>
          </a:p>
        </p:txBody>
      </p:sp>
      <p:sp>
        <p:nvSpPr>
          <p:cNvPr id="22" name="TextBox 21"/>
          <p:cNvSpPr txBox="1"/>
          <p:nvPr/>
        </p:nvSpPr>
        <p:spPr>
          <a:xfrm rot="20906861">
            <a:off x="6878265" y="4628128"/>
            <a:ext cx="7343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 smtClean="0">
                <a:solidFill>
                  <a:srgbClr val="FF0000"/>
                </a:solidFill>
              </a:rPr>
              <a:t>PC</a:t>
            </a:r>
            <a:r>
              <a:rPr lang="en-US" sz="1050" dirty="0" smtClean="0"/>
              <a:t> </a:t>
            </a:r>
            <a:r>
              <a:rPr lang="en-US" sz="1050" b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&lt;-</a:t>
            </a:r>
            <a:r>
              <a:rPr lang="en-US" sz="1050" dirty="0" smtClean="0"/>
              <a:t> </a:t>
            </a:r>
            <a:r>
              <a:rPr lang="en-US" sz="1050" b="1" dirty="0" smtClean="0">
                <a:solidFill>
                  <a:srgbClr val="FF0000"/>
                </a:solidFill>
              </a:rPr>
              <a:t>LR</a:t>
            </a:r>
            <a:endParaRPr lang="en-US" sz="105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984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249390" y="406117"/>
            <a:ext cx="264527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Assembly Example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685800" y="1828800"/>
            <a:ext cx="3048000" cy="426720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14400" y="1981200"/>
            <a:ext cx="2819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B050"/>
                </a:solidFill>
              </a:rPr>
              <a:t>; main assembly program</a:t>
            </a:r>
          </a:p>
          <a:p>
            <a:r>
              <a:rPr lang="en-US" i="1" dirty="0">
                <a:solidFill>
                  <a:srgbClr val="00B050"/>
                </a:solidFill>
              </a:rPr>
              <a:t>;********************</a:t>
            </a:r>
          </a:p>
          <a:p>
            <a:r>
              <a:rPr lang="en-US" dirty="0"/>
              <a:t>__main  </a:t>
            </a:r>
            <a:r>
              <a:rPr lang="en-US" b="1" dirty="0">
                <a:solidFill>
                  <a:srgbClr val="FF0000"/>
                </a:solidFill>
              </a:rPr>
              <a:t>PROC</a:t>
            </a:r>
          </a:p>
          <a:p>
            <a:r>
              <a:rPr lang="en-US" dirty="0"/>
              <a:t> </a:t>
            </a:r>
          </a:p>
          <a:p>
            <a:r>
              <a:rPr lang="en-US" i="1" dirty="0">
                <a:solidFill>
                  <a:srgbClr val="00B050"/>
                </a:solidFill>
              </a:rPr>
              <a:t>; Initialize R0</a:t>
            </a:r>
          </a:p>
          <a:p>
            <a:r>
              <a:rPr lang="en-US" b="1" dirty="0">
                <a:solidFill>
                  <a:srgbClr val="FF0000"/>
                </a:solidFill>
              </a:rPr>
              <a:t>MOV</a:t>
            </a:r>
            <a:r>
              <a:rPr lang="en-US" dirty="0"/>
              <a:t>   R0, #0x01</a:t>
            </a:r>
          </a:p>
          <a:p>
            <a:r>
              <a:rPr lang="en-US" dirty="0"/>
              <a:t> </a:t>
            </a:r>
          </a:p>
          <a:p>
            <a:r>
              <a:rPr lang="en-US" i="1" dirty="0">
                <a:solidFill>
                  <a:srgbClr val="00B050"/>
                </a:solidFill>
              </a:rPr>
              <a:t>; Call the function </a:t>
            </a:r>
          </a:p>
          <a:p>
            <a:r>
              <a:rPr lang="en-US" b="1" dirty="0">
                <a:solidFill>
                  <a:srgbClr val="FF0000"/>
                </a:solidFill>
              </a:rPr>
              <a:t>BL</a:t>
            </a:r>
            <a:r>
              <a:rPr lang="en-US" dirty="0"/>
              <a:t>   </a:t>
            </a:r>
            <a:r>
              <a:rPr lang="en-US" dirty="0" smtClean="0"/>
              <a:t>__func</a:t>
            </a:r>
            <a:endParaRPr lang="en-US" dirty="0"/>
          </a:p>
          <a:p>
            <a:r>
              <a:rPr lang="en-US" dirty="0"/>
              <a:t> </a:t>
            </a:r>
          </a:p>
          <a:p>
            <a:r>
              <a:rPr lang="en-US" i="1" dirty="0">
                <a:solidFill>
                  <a:srgbClr val="00B050"/>
                </a:solidFill>
              </a:rPr>
              <a:t>;Loop forever</a:t>
            </a:r>
          </a:p>
          <a:p>
            <a:r>
              <a:rPr lang="en-US" b="1" dirty="0">
                <a:solidFill>
                  <a:srgbClr val="FF0000"/>
                </a:solidFill>
              </a:rPr>
              <a:t>B</a:t>
            </a:r>
            <a:r>
              <a:rPr lang="en-US" dirty="0"/>
              <a:t>    __main</a:t>
            </a:r>
          </a:p>
          <a:p>
            <a:endParaRPr lang="en-US" dirty="0"/>
          </a:p>
          <a:p>
            <a:r>
              <a:rPr lang="en-US" b="1" dirty="0" smtClean="0">
                <a:solidFill>
                  <a:srgbClr val="FF0000"/>
                </a:solidFill>
              </a:rPr>
              <a:t>ENDP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34000" y="1981200"/>
            <a:ext cx="31242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00B050"/>
                </a:solidFill>
              </a:rPr>
              <a:t>; func assembly program</a:t>
            </a:r>
          </a:p>
          <a:p>
            <a:r>
              <a:rPr lang="en-US" i="1" dirty="0">
                <a:solidFill>
                  <a:srgbClr val="00B050"/>
                </a:solidFill>
              </a:rPr>
              <a:t>;********************</a:t>
            </a:r>
          </a:p>
          <a:p>
            <a:r>
              <a:rPr lang="en-US" dirty="0"/>
              <a:t>__func  </a:t>
            </a:r>
            <a:r>
              <a:rPr lang="en-US" b="1" dirty="0">
                <a:solidFill>
                  <a:srgbClr val="FF0000"/>
                </a:solidFill>
              </a:rPr>
              <a:t>PROC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i="1" dirty="0">
                <a:solidFill>
                  <a:srgbClr val="00B050"/>
                </a:solidFill>
              </a:rPr>
              <a:t>;Check if R0 equals 1 or not ;and save 0 or 1 to R1</a:t>
            </a:r>
          </a:p>
          <a:p>
            <a:r>
              <a:rPr lang="en-US" b="1" dirty="0">
                <a:solidFill>
                  <a:srgbClr val="FF0000"/>
                </a:solidFill>
              </a:rPr>
              <a:t>TST</a:t>
            </a:r>
            <a:r>
              <a:rPr lang="en-US" dirty="0"/>
              <a:t>           R0, #0x01</a:t>
            </a:r>
          </a:p>
          <a:p>
            <a:r>
              <a:rPr lang="en-US" b="1" dirty="0">
                <a:solidFill>
                  <a:srgbClr val="FF0000"/>
                </a:solidFill>
              </a:rPr>
              <a:t>MOVEQ</a:t>
            </a:r>
            <a:r>
              <a:rPr lang="en-US" dirty="0"/>
              <a:t>   R1, #0</a:t>
            </a:r>
          </a:p>
          <a:p>
            <a:r>
              <a:rPr lang="en-US" b="1" dirty="0">
                <a:solidFill>
                  <a:srgbClr val="FF0000"/>
                </a:solidFill>
              </a:rPr>
              <a:t>MOVNE</a:t>
            </a:r>
            <a:r>
              <a:rPr lang="en-US" dirty="0">
                <a:solidFill>
                  <a:srgbClr val="FF0000"/>
                </a:solidFill>
              </a:rPr>
              <a:t>   </a:t>
            </a:r>
            <a:r>
              <a:rPr lang="en-US" dirty="0"/>
              <a:t>R1, #1</a:t>
            </a:r>
          </a:p>
          <a:p>
            <a:endParaRPr lang="en-US" dirty="0"/>
          </a:p>
          <a:p>
            <a:r>
              <a:rPr lang="en-US" i="1" dirty="0">
                <a:solidFill>
                  <a:srgbClr val="00B050"/>
                </a:solidFill>
              </a:rPr>
              <a:t>; Return from the function</a:t>
            </a:r>
          </a:p>
          <a:p>
            <a:r>
              <a:rPr lang="en-US" b="1" dirty="0">
                <a:solidFill>
                  <a:srgbClr val="FF0000"/>
                </a:solidFill>
              </a:rPr>
              <a:t>BX</a:t>
            </a:r>
            <a:r>
              <a:rPr lang="en-US" dirty="0"/>
              <a:t>    LR </a:t>
            </a:r>
          </a:p>
          <a:p>
            <a:endParaRPr lang="en-US" b="1" dirty="0">
              <a:solidFill>
                <a:srgbClr val="FF0000"/>
              </a:solidFill>
            </a:endParaRPr>
          </a:p>
          <a:p>
            <a:r>
              <a:rPr lang="en-US" b="1" dirty="0" smtClean="0">
                <a:solidFill>
                  <a:srgbClr val="FF0000"/>
                </a:solidFill>
              </a:rPr>
              <a:t>ENDP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105400" y="1828800"/>
            <a:ext cx="3048000" cy="426720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95400" y="144780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void </a:t>
            </a:r>
            <a:r>
              <a:rPr lang="en-US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main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smtClean="0"/>
              <a:t>(void)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715000" y="1447800"/>
            <a:ext cx="182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void </a:t>
            </a:r>
            <a:r>
              <a:rPr lang="en-US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func </a:t>
            </a:r>
            <a:r>
              <a:rPr lang="en-US" dirty="0" smtClean="0"/>
              <a:t>(void)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84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056229" y="406117"/>
            <a:ext cx="303159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Program Counter R15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04800" y="1447800"/>
            <a:ext cx="8077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 </a:t>
            </a:r>
            <a:r>
              <a:rPr lang="en-US" b="1" i="1" dirty="0">
                <a:solidFill>
                  <a:srgbClr val="FF0000"/>
                </a:solidFill>
              </a:rPr>
              <a:t>Program Counter</a:t>
            </a:r>
            <a:r>
              <a:rPr lang="en-US" dirty="0"/>
              <a:t> (PC) is register R15. It contains the current program address. On reset, the processor loads the PC with the value of the reset vector, which is at address 0x00000004.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245006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 smtClean="0">
                <a:solidFill>
                  <a:srgbClr val="FF0000"/>
                </a:solidFill>
              </a:rPr>
              <a:t>Processor Reset Sequence:</a:t>
            </a:r>
            <a:endParaRPr lang="en-US" b="1" u="sng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33600" y="3048000"/>
            <a:ext cx="18288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0x20008000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9600" y="298346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0x00000000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133600" y="3657600"/>
            <a:ext cx="1828800" cy="3048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0x20001000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9600" y="359306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0x00000004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133600" y="4267200"/>
            <a:ext cx="1828800" cy="304800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chemeClr val="tx1"/>
                </a:solidFill>
              </a:rPr>
              <a:t>Start up Instruction 1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9600" y="42672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0x20001000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133600" y="4876800"/>
            <a:ext cx="1828800" cy="304800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Start up Instruction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481226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0x20001004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2133600" y="5486400"/>
            <a:ext cx="1828800" cy="3048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Application </a:t>
            </a:r>
            <a:r>
              <a:rPr lang="en-US" sz="1200" dirty="0">
                <a:solidFill>
                  <a:schemeClr val="tx1"/>
                </a:solidFill>
              </a:rPr>
              <a:t>Instruction </a:t>
            </a:r>
            <a:r>
              <a:rPr lang="en-US" sz="1200" dirty="0" smtClean="0">
                <a:solidFill>
                  <a:schemeClr val="tx1"/>
                </a:solidFill>
              </a:rPr>
              <a:t>1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9600" y="54864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0x2000FF00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133600" y="6096000"/>
            <a:ext cx="1828800" cy="304800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Application Instruction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6031468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0x2000FF04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Left Arrow 7"/>
          <p:cNvSpPr/>
          <p:nvPr/>
        </p:nvSpPr>
        <p:spPr>
          <a:xfrm rot="16200000">
            <a:off x="2867799" y="3412867"/>
            <a:ext cx="272534" cy="2169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Left Arrow 28"/>
          <p:cNvSpPr/>
          <p:nvPr/>
        </p:nvSpPr>
        <p:spPr>
          <a:xfrm rot="16200000">
            <a:off x="2867799" y="4632067"/>
            <a:ext cx="272534" cy="216932"/>
          </a:xfrm>
          <a:prstGeom prst="lef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Left Arrow 29"/>
          <p:cNvSpPr/>
          <p:nvPr/>
        </p:nvSpPr>
        <p:spPr>
          <a:xfrm rot="16200000">
            <a:off x="2867799" y="5851267"/>
            <a:ext cx="272534" cy="216932"/>
          </a:xfrm>
          <a:prstGeom prst="lef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urved Connector 10"/>
          <p:cNvCxnSpPr>
            <a:stCxn id="13" idx="3"/>
            <a:endCxn id="16" idx="3"/>
          </p:cNvCxnSpPr>
          <p:nvPr/>
        </p:nvCxnSpPr>
        <p:spPr>
          <a:xfrm>
            <a:off x="3962400" y="3810000"/>
            <a:ext cx="12700" cy="609600"/>
          </a:xfrm>
          <a:prstGeom prst="curvedConnector3">
            <a:avLst>
              <a:gd name="adj1" fmla="val 4021276"/>
            </a:avLst>
          </a:prstGeom>
          <a:ln w="3175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/>
          <p:cNvCxnSpPr/>
          <p:nvPr/>
        </p:nvCxnSpPr>
        <p:spPr>
          <a:xfrm>
            <a:off x="3962400" y="5029200"/>
            <a:ext cx="12700" cy="609600"/>
          </a:xfrm>
          <a:prstGeom prst="curvedConnector3">
            <a:avLst>
              <a:gd name="adj1" fmla="val 4021276"/>
            </a:avLst>
          </a:prstGeom>
          <a:ln w="31750">
            <a:solidFill>
              <a:schemeClr val="accent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191000" y="4001869"/>
            <a:ext cx="144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Jump to Startup Code</a:t>
            </a:r>
            <a:endParaRPr lang="en-US" b="1" dirty="0"/>
          </a:p>
        </p:txBody>
      </p:sp>
      <p:sp>
        <p:nvSpPr>
          <p:cNvPr id="35" name="TextBox 34"/>
          <p:cNvSpPr txBox="1"/>
          <p:nvPr/>
        </p:nvSpPr>
        <p:spPr>
          <a:xfrm>
            <a:off x="4114800" y="5221069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Jump to   main function</a:t>
            </a:r>
            <a:endParaRPr lang="en-US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4184515" y="6057900"/>
            <a:ext cx="4191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/>
              <a:t>N.B</a:t>
            </a:r>
            <a:r>
              <a:rPr lang="en-US" dirty="0" smtClean="0"/>
              <a:t>. All addresses in </a:t>
            </a:r>
            <a:r>
              <a:rPr lang="en-US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Blue</a:t>
            </a:r>
            <a:r>
              <a:rPr lang="en-US" dirty="0" smtClean="0"/>
              <a:t> are for example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5943600" y="2634734"/>
            <a:ext cx="2667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dirty="0" smtClean="0"/>
              <a:t>After reset, the PC is loaded by </a:t>
            </a:r>
            <a:r>
              <a:rPr lang="en-US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0x00000000</a:t>
            </a:r>
            <a:r>
              <a:rPr lang="en-US" dirty="0" smtClean="0"/>
              <a:t> by hardware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 smtClean="0"/>
              <a:t>Processor saves the value of the address </a:t>
            </a:r>
            <a:r>
              <a:rPr lang="en-US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0x00000000</a:t>
            </a:r>
            <a:r>
              <a:rPr lang="en-US" dirty="0" smtClean="0"/>
              <a:t> to the </a:t>
            </a:r>
            <a:r>
              <a:rPr lang="en-US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MSP</a:t>
            </a:r>
            <a:r>
              <a:rPr lang="en-US" dirty="0" smtClean="0"/>
              <a:t> then jump to the reset handler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dirty="0" smtClean="0"/>
              <a:t>The instruction in the reset handler is a jump instruction to the </a:t>
            </a:r>
            <a:r>
              <a:rPr lang="en-US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startup</a:t>
            </a:r>
            <a:r>
              <a:rPr lang="en-US" dirty="0" smtClean="0"/>
              <a:t> code</a:t>
            </a:r>
          </a:p>
        </p:txBody>
      </p:sp>
      <p:cxnSp>
        <p:nvCxnSpPr>
          <p:cNvPr id="40" name="Curved Connector 39"/>
          <p:cNvCxnSpPr>
            <a:endCxn id="13" idx="3"/>
          </p:cNvCxnSpPr>
          <p:nvPr/>
        </p:nvCxnSpPr>
        <p:spPr>
          <a:xfrm rot="5400000">
            <a:off x="3949184" y="2996684"/>
            <a:ext cx="826532" cy="800100"/>
          </a:xfrm>
          <a:prstGeom prst="curvedConnector2">
            <a:avLst/>
          </a:prstGeom>
          <a:ln w="31750">
            <a:solidFill>
              <a:schemeClr val="accent2">
                <a:lumMod val="60000"/>
                <a:lumOff val="4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4191000" y="2743200"/>
            <a:ext cx="12763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Reset Handler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8984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427324" y="406117"/>
            <a:ext cx="228940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Control Register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67446" y="1447800"/>
            <a:ext cx="79669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i="1" dirty="0">
                <a:solidFill>
                  <a:srgbClr val="FF0000"/>
                </a:solidFill>
              </a:rPr>
              <a:t>CONTROL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register controls the stack used and the privilege level for software execution when the processor is in Thread mode.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716" y="2667000"/>
            <a:ext cx="7618413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984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770098" y="406117"/>
            <a:ext cx="36038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Processor Operating Modes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1905000" y="3066365"/>
            <a:ext cx="1887166" cy="11049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Privileged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5562600" y="1977115"/>
            <a:ext cx="2057400" cy="1137640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Handler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976009" y="2393535"/>
            <a:ext cx="152400" cy="1524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27434" y="1747204"/>
            <a:ext cx="1143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Agency FB" pitchFamily="34" charset="0"/>
              </a:rPr>
              <a:t>Power On</a:t>
            </a:r>
          </a:p>
          <a:p>
            <a:r>
              <a:rPr lang="en-US" b="1" dirty="0" smtClean="0">
                <a:latin typeface="Agency FB" pitchFamily="34" charset="0"/>
              </a:rPr>
              <a:t>“  Reset “</a:t>
            </a:r>
            <a:endParaRPr lang="en-US" b="1" dirty="0">
              <a:latin typeface="Agency FB" pitchFamily="34" charset="0"/>
            </a:endParaRPr>
          </a:p>
        </p:txBody>
      </p:sp>
      <p:cxnSp>
        <p:nvCxnSpPr>
          <p:cNvPr id="16" name="Curved Connector 15"/>
          <p:cNvCxnSpPr>
            <a:stCxn id="8" idx="5"/>
          </p:cNvCxnSpPr>
          <p:nvPr/>
        </p:nvCxnSpPr>
        <p:spPr>
          <a:xfrm rot="16200000" flipH="1">
            <a:off x="1253221" y="2376486"/>
            <a:ext cx="733248" cy="1027509"/>
          </a:xfrm>
          <a:prstGeom prst="curvedConnector2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4762500" y="4572000"/>
            <a:ext cx="2025360" cy="11049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Unprivileged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33" name="Curved Connector 32"/>
          <p:cNvCxnSpPr>
            <a:stCxn id="7" idx="4"/>
            <a:endCxn id="32" idx="2"/>
          </p:cNvCxnSpPr>
          <p:nvPr/>
        </p:nvCxnSpPr>
        <p:spPr>
          <a:xfrm rot="16200000" flipH="1">
            <a:off x="3328949" y="3690898"/>
            <a:ext cx="953185" cy="1913917"/>
          </a:xfrm>
          <a:prstGeom prst="curvedConnector2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urved Connector 49"/>
          <p:cNvCxnSpPr>
            <a:stCxn id="7" idx="0"/>
          </p:cNvCxnSpPr>
          <p:nvPr/>
        </p:nvCxnSpPr>
        <p:spPr>
          <a:xfrm rot="5400000" flipH="1" flipV="1">
            <a:off x="3907277" y="1334841"/>
            <a:ext cx="672830" cy="2790219"/>
          </a:xfrm>
          <a:prstGeom prst="curvedConnector2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urved Connector 54"/>
          <p:cNvCxnSpPr>
            <a:stCxn id="15" idx="3"/>
          </p:cNvCxnSpPr>
          <p:nvPr/>
        </p:nvCxnSpPr>
        <p:spPr>
          <a:xfrm rot="5400000">
            <a:off x="4531596" y="1997956"/>
            <a:ext cx="382109" cy="2282499"/>
          </a:xfrm>
          <a:prstGeom prst="curvedConnector2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urved Connector 65"/>
          <p:cNvCxnSpPr>
            <a:stCxn id="32" idx="6"/>
            <a:endCxn id="15" idx="5"/>
          </p:cNvCxnSpPr>
          <p:nvPr/>
        </p:nvCxnSpPr>
        <p:spPr>
          <a:xfrm flipV="1">
            <a:off x="6787860" y="2948151"/>
            <a:ext cx="530841" cy="2176299"/>
          </a:xfrm>
          <a:prstGeom prst="curvedConnector2">
            <a:avLst/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urved Connector 70"/>
          <p:cNvCxnSpPr>
            <a:stCxn id="15" idx="4"/>
            <a:endCxn id="32" idx="7"/>
          </p:cNvCxnSpPr>
          <p:nvPr/>
        </p:nvCxnSpPr>
        <p:spPr>
          <a:xfrm rot="5400000">
            <a:off x="5731750" y="3874259"/>
            <a:ext cx="1619054" cy="100047"/>
          </a:xfrm>
          <a:prstGeom prst="curvedConnector3">
            <a:avLst>
              <a:gd name="adj1" fmla="val 50000"/>
            </a:avLst>
          </a:prstGeom>
          <a:ln w="38100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81" name="TextBox 11280"/>
          <p:cNvSpPr txBox="1"/>
          <p:nvPr/>
        </p:nvSpPr>
        <p:spPr>
          <a:xfrm rot="2158711">
            <a:off x="2533456" y="4836939"/>
            <a:ext cx="139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Agency FB" pitchFamily="34" charset="0"/>
              </a:rPr>
              <a:t>Control [</a:t>
            </a:r>
            <a:r>
              <a:rPr lang="en-US" b="1" dirty="0">
                <a:latin typeface="Agency FB" pitchFamily="34" charset="0"/>
              </a:rPr>
              <a:t>0] = 1</a:t>
            </a:r>
          </a:p>
        </p:txBody>
      </p:sp>
      <p:sp>
        <p:nvSpPr>
          <p:cNvPr id="85" name="TextBox 84"/>
          <p:cNvSpPr txBox="1"/>
          <p:nvPr/>
        </p:nvSpPr>
        <p:spPr>
          <a:xfrm rot="20879653">
            <a:off x="3516556" y="2152295"/>
            <a:ext cx="951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Agency FB" pitchFamily="34" charset="0"/>
              </a:rPr>
              <a:t>Exception</a:t>
            </a:r>
            <a:endParaRPr lang="en-US" b="1" dirty="0">
              <a:latin typeface="Agency FB" pitchFamily="34" charset="0"/>
            </a:endParaRPr>
          </a:p>
        </p:txBody>
      </p:sp>
      <p:sp>
        <p:nvSpPr>
          <p:cNvPr id="87" name="TextBox 86"/>
          <p:cNvSpPr txBox="1"/>
          <p:nvPr/>
        </p:nvSpPr>
        <p:spPr>
          <a:xfrm rot="5952101">
            <a:off x="6945529" y="3895761"/>
            <a:ext cx="951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Agency FB" pitchFamily="34" charset="0"/>
              </a:rPr>
              <a:t>Exception</a:t>
            </a:r>
            <a:endParaRPr lang="en-US" b="1" dirty="0">
              <a:latin typeface="Agency FB" pitchFamily="34" charset="0"/>
            </a:endParaRPr>
          </a:p>
        </p:txBody>
      </p:sp>
      <p:sp>
        <p:nvSpPr>
          <p:cNvPr id="88" name="TextBox 87"/>
          <p:cNvSpPr txBox="1"/>
          <p:nvPr/>
        </p:nvSpPr>
        <p:spPr>
          <a:xfrm rot="21206992">
            <a:off x="4131328" y="3278494"/>
            <a:ext cx="139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Agency FB" pitchFamily="34" charset="0"/>
              </a:rPr>
              <a:t>Control [</a:t>
            </a:r>
            <a:r>
              <a:rPr lang="en-US" b="1" dirty="0">
                <a:latin typeface="Agency FB" pitchFamily="34" charset="0"/>
              </a:rPr>
              <a:t>0] = </a:t>
            </a:r>
            <a:r>
              <a:rPr lang="en-US" b="1" dirty="0" smtClean="0">
                <a:latin typeface="Agency FB" pitchFamily="34" charset="0"/>
              </a:rPr>
              <a:t>0</a:t>
            </a:r>
            <a:endParaRPr lang="en-US" b="1" dirty="0">
              <a:latin typeface="Agency FB" pitchFamily="34" charset="0"/>
            </a:endParaRPr>
          </a:p>
        </p:txBody>
      </p:sp>
      <p:sp>
        <p:nvSpPr>
          <p:cNvPr id="89" name="TextBox 88"/>
          <p:cNvSpPr txBox="1"/>
          <p:nvPr/>
        </p:nvSpPr>
        <p:spPr>
          <a:xfrm rot="16656187">
            <a:off x="5630320" y="3593092"/>
            <a:ext cx="1390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Agency FB" pitchFamily="34" charset="0"/>
              </a:rPr>
              <a:t>Control [</a:t>
            </a:r>
            <a:r>
              <a:rPr lang="en-US" b="1" dirty="0">
                <a:latin typeface="Agency FB" pitchFamily="34" charset="0"/>
              </a:rPr>
              <a:t>0] = </a:t>
            </a:r>
            <a:r>
              <a:rPr lang="en-US" b="1" dirty="0" smtClean="0">
                <a:latin typeface="Agency FB" pitchFamily="34" charset="0"/>
              </a:rPr>
              <a:t>1</a:t>
            </a:r>
            <a:endParaRPr lang="en-US" b="1" dirty="0">
              <a:latin typeface="Agency FB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31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182081" y="406117"/>
            <a:ext cx="277992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Assembly Examples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800" y="14478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Example 1</a:t>
            </a:r>
            <a:endParaRPr lang="en-US" b="1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228208" y="4142259"/>
            <a:ext cx="5239392" cy="1801341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00B050"/>
                </a:solidFill>
              </a:rPr>
              <a:t>; </a:t>
            </a:r>
            <a:r>
              <a:rPr lang="en-US" i="1" dirty="0" smtClean="0">
                <a:solidFill>
                  <a:srgbClr val="00B050"/>
                </a:solidFill>
              </a:rPr>
              <a:t>Write 0 </a:t>
            </a:r>
            <a:r>
              <a:rPr lang="en-US" i="1" dirty="0">
                <a:solidFill>
                  <a:srgbClr val="00B050"/>
                </a:solidFill>
              </a:rPr>
              <a:t>to </a:t>
            </a:r>
            <a:r>
              <a:rPr lang="en-US" i="1" dirty="0" smtClean="0">
                <a:solidFill>
                  <a:srgbClr val="00B050"/>
                </a:solidFill>
              </a:rPr>
              <a:t>Control register to enable all interrupts</a:t>
            </a:r>
            <a:endParaRPr lang="en-US" i="1" dirty="0">
              <a:solidFill>
                <a:srgbClr val="00B050"/>
              </a:solidFill>
            </a:endParaRP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MOV</a:t>
            </a:r>
            <a:r>
              <a:rPr lang="en-US" dirty="0"/>
              <a:t> R0, </a:t>
            </a:r>
            <a:r>
              <a:rPr lang="en-US" dirty="0" smtClean="0"/>
              <a:t>#0</a:t>
            </a:r>
            <a:endParaRPr lang="en-US" dirty="0"/>
          </a:p>
          <a:p>
            <a:pPr algn="ctr"/>
            <a:r>
              <a:rPr lang="pt-BR" b="1" dirty="0">
                <a:solidFill>
                  <a:srgbClr val="FF0000"/>
                </a:solidFill>
              </a:rPr>
              <a:t>MSR </a:t>
            </a:r>
            <a:r>
              <a:rPr lang="pt-BR" dirty="0" smtClean="0"/>
              <a:t>CONTROL</a:t>
            </a:r>
            <a:r>
              <a:rPr lang="pt-BR" dirty="0"/>
              <a:t>, r0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85800" y="374753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Example 2</a:t>
            </a:r>
            <a:endParaRPr lang="en-US" b="1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142804" y="1831621"/>
            <a:ext cx="5239392" cy="1801341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00B050"/>
                </a:solidFill>
              </a:rPr>
              <a:t>; </a:t>
            </a:r>
            <a:r>
              <a:rPr lang="en-US" i="1" dirty="0" smtClean="0">
                <a:solidFill>
                  <a:srgbClr val="00B050"/>
                </a:solidFill>
              </a:rPr>
              <a:t>Write 1 </a:t>
            </a:r>
            <a:r>
              <a:rPr lang="en-US" i="1" dirty="0">
                <a:solidFill>
                  <a:srgbClr val="00B050"/>
                </a:solidFill>
              </a:rPr>
              <a:t>to </a:t>
            </a:r>
            <a:r>
              <a:rPr lang="en-US" i="1" dirty="0" smtClean="0">
                <a:solidFill>
                  <a:srgbClr val="00B050"/>
                </a:solidFill>
              </a:rPr>
              <a:t>Control register to enable all interrupts</a:t>
            </a:r>
            <a:endParaRPr lang="en-US" i="1" dirty="0">
              <a:solidFill>
                <a:srgbClr val="00B050"/>
              </a:solidFill>
            </a:endParaRP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MOV</a:t>
            </a:r>
            <a:r>
              <a:rPr lang="en-US" dirty="0"/>
              <a:t> R0, </a:t>
            </a:r>
            <a:r>
              <a:rPr lang="en-US" dirty="0" smtClean="0"/>
              <a:t>#1</a:t>
            </a:r>
            <a:endParaRPr lang="en-US" dirty="0"/>
          </a:p>
          <a:p>
            <a:pPr algn="ctr"/>
            <a:r>
              <a:rPr lang="pt-BR" b="1" dirty="0">
                <a:solidFill>
                  <a:srgbClr val="FF0000"/>
                </a:solidFill>
              </a:rPr>
              <a:t>MSR </a:t>
            </a:r>
            <a:r>
              <a:rPr lang="pt-BR" dirty="0" smtClean="0"/>
              <a:t>CONTROL</a:t>
            </a:r>
            <a:r>
              <a:rPr lang="pt-BR" dirty="0"/>
              <a:t>, r0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531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619415" y="406117"/>
            <a:ext cx="390523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Program Status Word </a:t>
            </a:r>
            <a:r>
              <a:rPr lang="en-US" sz="2400" b="1" dirty="0" err="1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xPSR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28600" y="1447800"/>
            <a:ext cx="838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>The Processor Status Word (</a:t>
            </a:r>
            <a:r>
              <a:rPr lang="en-US" b="1" i="1" dirty="0" err="1" smtClean="0">
                <a:solidFill>
                  <a:srgbClr val="FF0000"/>
                </a:solidFill>
              </a:rPr>
              <a:t>xPSR</a:t>
            </a:r>
            <a:r>
              <a:rPr lang="en-US" dirty="0" smtClean="0"/>
              <a:t>) combines 3 registers: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Application Program Status Register (</a:t>
            </a:r>
            <a:r>
              <a:rPr lang="en-US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APSR</a:t>
            </a:r>
            <a:r>
              <a:rPr lang="en-US" dirty="0" smtClean="0"/>
              <a:t>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Interrupt Program Status Register     (</a:t>
            </a:r>
            <a:r>
              <a:rPr lang="en-US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IPSR</a:t>
            </a:r>
            <a:r>
              <a:rPr lang="en-US" dirty="0" smtClean="0"/>
              <a:t> )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 smtClean="0"/>
              <a:t>Execution Program Status Register    (</a:t>
            </a:r>
            <a:r>
              <a:rPr lang="en-US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EPSR</a:t>
            </a:r>
            <a:r>
              <a:rPr lang="en-US" dirty="0" smtClean="0"/>
              <a:t>)</a:t>
            </a:r>
            <a:endParaRPr lang="en-US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75" y="3581400"/>
            <a:ext cx="8020050" cy="225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984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072792" y="406117"/>
            <a:ext cx="499848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Application Program Status Register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pic>
        <p:nvPicPr>
          <p:cNvPr id="19457" name="Picture 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31" y="2750908"/>
            <a:ext cx="6172200" cy="21258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81000" y="1600200"/>
            <a:ext cx="8001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The Application Program Status Register </a:t>
            </a:r>
            <a:r>
              <a:rPr lang="en-US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APSR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smtClean="0"/>
              <a:t>contains the status flags of the integer operations ( N, Z, C, V and Q ) resulted from the previous instruction execution.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84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201826" y="406117"/>
            <a:ext cx="474040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Interrupt Program Status Register 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pic>
        <p:nvPicPr>
          <p:cNvPr id="17409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402" y="2667000"/>
            <a:ext cx="7911598" cy="2520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81000" y="1600200"/>
            <a:ext cx="800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The Interrupt Program Status Register </a:t>
            </a:r>
            <a:r>
              <a:rPr lang="en-US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IPSR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smtClean="0"/>
              <a:t>contains index of the current executing exception.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84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182598" y="406117"/>
            <a:ext cx="477887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Execution Program Status Register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pic>
        <p:nvPicPr>
          <p:cNvPr id="16385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209800"/>
            <a:ext cx="6172200" cy="56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1104900" y="3733800"/>
            <a:ext cx="697230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When an interrupt occurs </a:t>
            </a:r>
            <a:r>
              <a:rPr lang="en-US" sz="1400" dirty="0"/>
              <a:t>during the execution of an LDM or STM instruction, the processor:</a:t>
            </a:r>
          </a:p>
          <a:p>
            <a:r>
              <a:rPr lang="en-US" sz="1400" dirty="0"/>
              <a:t>• Stops the load multiple or store multiple instruction operation temporarily</a:t>
            </a:r>
          </a:p>
          <a:p>
            <a:r>
              <a:rPr lang="en-US" sz="1400" dirty="0"/>
              <a:t>• Stores the next register operand in the multiple operation to </a:t>
            </a:r>
            <a:r>
              <a:rPr lang="en-US" sz="1400" dirty="0" err="1"/>
              <a:t>EPSRbits</a:t>
            </a:r>
            <a:r>
              <a:rPr lang="en-US" sz="1400" dirty="0"/>
              <a:t>[15:12].</a:t>
            </a:r>
          </a:p>
          <a:p>
            <a:r>
              <a:rPr lang="en-US" sz="14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After servicing the interrupt</a:t>
            </a:r>
            <a:r>
              <a:rPr lang="en-US" sz="1400" dirty="0"/>
              <a:t>, the processor:</a:t>
            </a:r>
          </a:p>
          <a:p>
            <a:r>
              <a:rPr lang="en-US" sz="1400" dirty="0"/>
              <a:t>• Returns to the register pointed to by bits[15:12]</a:t>
            </a:r>
          </a:p>
          <a:p>
            <a:r>
              <a:rPr lang="en-US" sz="1400" dirty="0"/>
              <a:t>• Resumes execution of the </a:t>
            </a:r>
            <a:r>
              <a:rPr lang="en-US" sz="1400" dirty="0" smtClean="0"/>
              <a:t>multiple load </a:t>
            </a:r>
            <a:r>
              <a:rPr lang="en-US" sz="1400" dirty="0"/>
              <a:t>or store instruction. </a:t>
            </a:r>
          </a:p>
          <a:p>
            <a:r>
              <a:rPr lang="en-US" sz="1400" dirty="0"/>
              <a:t>When the EPSR holds ICI execution state, bits[26:25,11:10] are zero.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966" y="1491574"/>
            <a:ext cx="8382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The Execution Program Status Register </a:t>
            </a:r>
            <a:r>
              <a:rPr lang="en-US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E</a:t>
            </a:r>
            <a:r>
              <a:rPr lang="en-US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PSR</a:t>
            </a:r>
            <a:r>
              <a:rPr lang="en-US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smtClean="0"/>
              <a:t>is giving information about the execution state of the processor. It contains the following bits:</a:t>
            </a:r>
          </a:p>
          <a:p>
            <a:pPr algn="just"/>
            <a:endParaRPr lang="en-US" dirty="0"/>
          </a:p>
          <a:p>
            <a:pPr algn="just"/>
            <a:endParaRPr lang="en-US" dirty="0" smtClean="0"/>
          </a:p>
          <a:p>
            <a:pPr algn="just"/>
            <a:endParaRPr lang="en-US" dirty="0" smtClean="0"/>
          </a:p>
          <a:p>
            <a:pPr marL="800100" lvl="1" indent="-342900" algn="just">
              <a:buFont typeface="+mj-lt"/>
              <a:buAutoNum type="arabicPeriod"/>
            </a:pPr>
            <a:r>
              <a:rPr lang="en-US" dirty="0" smtClean="0"/>
              <a:t>The Thumb state bit which indicate the current used instruction set. In our case it should be always 1 because we have only one instruction set (Thumb 2).</a:t>
            </a:r>
          </a:p>
          <a:p>
            <a:pPr marL="800100" lvl="1" indent="-342900" algn="just">
              <a:buFont typeface="+mj-lt"/>
              <a:buAutoNum type="arabicPeriod"/>
            </a:pPr>
            <a:r>
              <a:rPr lang="en-US" dirty="0" smtClean="0"/>
              <a:t>Interruptible </a:t>
            </a:r>
            <a:r>
              <a:rPr lang="en-US" dirty="0" err="1" smtClean="0"/>
              <a:t>Continuable</a:t>
            </a:r>
            <a:r>
              <a:rPr lang="en-US" dirty="0" smtClean="0"/>
              <a:t> Instruction (ICI).</a:t>
            </a:r>
          </a:p>
          <a:p>
            <a:pPr marL="800100" lvl="1" indent="-342900" algn="just">
              <a:buFont typeface="+mj-lt"/>
              <a:buAutoNum type="arabicPeriod"/>
            </a:pPr>
            <a:endParaRPr lang="en-US" dirty="0"/>
          </a:p>
          <a:p>
            <a:pPr marL="800100" lvl="1" indent="-342900" algn="just">
              <a:buFont typeface="+mj-lt"/>
              <a:buAutoNum type="arabicPeriod"/>
            </a:pPr>
            <a:endParaRPr lang="en-US" dirty="0" smtClean="0"/>
          </a:p>
          <a:p>
            <a:pPr marL="800100" lvl="1" indent="-342900" algn="just">
              <a:buFont typeface="+mj-lt"/>
              <a:buAutoNum type="arabicPeriod"/>
            </a:pPr>
            <a:endParaRPr lang="en-US" dirty="0"/>
          </a:p>
          <a:p>
            <a:pPr marL="800100" lvl="1" indent="-342900" algn="just">
              <a:buFont typeface="+mj-lt"/>
              <a:buAutoNum type="arabicPeriod"/>
            </a:pPr>
            <a:endParaRPr lang="en-US" dirty="0" smtClean="0"/>
          </a:p>
          <a:p>
            <a:pPr marL="800100" lvl="1" indent="-342900" algn="just">
              <a:buFont typeface="+mj-lt"/>
              <a:buAutoNum type="arabicPeriod"/>
            </a:pPr>
            <a:endParaRPr lang="en-US" dirty="0"/>
          </a:p>
          <a:p>
            <a:pPr marL="800100" lvl="1" indent="-342900" algn="just">
              <a:buFont typeface="+mj-lt"/>
              <a:buAutoNum type="arabicPeriod"/>
            </a:pPr>
            <a:endParaRPr lang="en-US" dirty="0" smtClean="0"/>
          </a:p>
          <a:p>
            <a:pPr marL="800100" lvl="1" indent="-342900" algn="just">
              <a:buFont typeface="+mj-lt"/>
              <a:buAutoNum type="arabicPeriod"/>
            </a:pPr>
            <a:r>
              <a:rPr lang="en-US" dirty="0" smtClean="0"/>
              <a:t>IF-Then Instruction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513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583357" y="406117"/>
            <a:ext cx="397737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Exception Masking Registers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139950"/>
            <a:ext cx="8611038" cy="235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04800" y="1600200"/>
            <a:ext cx="830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These three registers are used to mask interrupts.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762000" y="4800600"/>
            <a:ext cx="7848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access the exception mask registers use the </a:t>
            </a:r>
            <a:r>
              <a:rPr lang="en-US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MSR</a:t>
            </a:r>
            <a:r>
              <a:rPr lang="en-US" dirty="0"/>
              <a:t> and </a:t>
            </a:r>
            <a:r>
              <a:rPr lang="en-US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MRS</a:t>
            </a:r>
            <a:r>
              <a:rPr lang="en-US" dirty="0"/>
              <a:t> instructions, or the </a:t>
            </a:r>
            <a:r>
              <a:rPr lang="en-US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CPS</a:t>
            </a:r>
            <a:r>
              <a:rPr lang="en-US" dirty="0"/>
              <a:t> instruction to change the value of PRIMASK or FAULTMASK.</a:t>
            </a:r>
          </a:p>
        </p:txBody>
      </p:sp>
    </p:spTree>
    <p:extLst>
      <p:ext uri="{BB962C8B-B14F-4D97-AF65-F5344CB8AC3E}">
        <p14:creationId xmlns:p14="http://schemas.microsoft.com/office/powerpoint/2010/main" val="238984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984098" y="406117"/>
            <a:ext cx="317587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Priority Mask Register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pic>
        <p:nvPicPr>
          <p:cNvPr id="15361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563" y="2590800"/>
            <a:ext cx="8162925" cy="355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57200" y="1447800"/>
            <a:ext cx="8305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i="1" dirty="0">
                <a:solidFill>
                  <a:srgbClr val="FF0000"/>
                </a:solidFill>
              </a:rPr>
              <a:t>PRIMASK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register prevents activation of all exceptions with configurable priority. </a:t>
            </a:r>
            <a:r>
              <a:rPr lang="en-US" dirty="0" smtClean="0"/>
              <a:t>It disables all interrupts have a priority more than or equals to 0. It </a:t>
            </a:r>
            <a:r>
              <a:rPr lang="en-US" dirty="0"/>
              <a:t>is used to disable all exceptions except </a:t>
            </a:r>
            <a:r>
              <a:rPr lang="en-US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Reset</a:t>
            </a:r>
            <a:r>
              <a:rPr lang="en-US" dirty="0" smtClean="0"/>
              <a:t>, </a:t>
            </a:r>
            <a:r>
              <a:rPr lang="en-US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NMI</a:t>
            </a:r>
            <a:r>
              <a:rPr lang="en-US" dirty="0"/>
              <a:t> and </a:t>
            </a:r>
            <a:r>
              <a:rPr lang="en-US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hard fault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8984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182081" y="406117"/>
            <a:ext cx="277992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Assembly Examples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2228208" y="1842529"/>
            <a:ext cx="5086991" cy="1496541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i="1" dirty="0">
                <a:solidFill>
                  <a:srgbClr val="00B050"/>
                </a:solidFill>
              </a:rPr>
              <a:t>; Clear PRIMASK (Enable interrupts)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CPSIE</a:t>
            </a:r>
            <a:r>
              <a:rPr lang="en-US" dirty="0" smtClean="0"/>
              <a:t> </a:t>
            </a:r>
            <a:r>
              <a:rPr lang="en-US" dirty="0"/>
              <a:t>I </a:t>
            </a:r>
            <a:endParaRPr lang="en-US" dirty="0" smtClean="0"/>
          </a:p>
          <a:p>
            <a:r>
              <a:rPr lang="en-US" i="1" dirty="0">
                <a:solidFill>
                  <a:srgbClr val="00B050"/>
                </a:solidFill>
              </a:rPr>
              <a:t>; Set PRIMASK (Disable interrupts)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CPSID</a:t>
            </a:r>
            <a:r>
              <a:rPr lang="en-US" dirty="0" smtClean="0"/>
              <a:t> I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85800" y="14478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Example 1</a:t>
            </a:r>
            <a:endParaRPr lang="en-US" b="1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228208" y="4142259"/>
            <a:ext cx="5239392" cy="1801341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00B050"/>
                </a:solidFill>
              </a:rPr>
              <a:t>; </a:t>
            </a:r>
            <a:r>
              <a:rPr lang="en-US" i="1" dirty="0" smtClean="0">
                <a:solidFill>
                  <a:srgbClr val="00B050"/>
                </a:solidFill>
              </a:rPr>
              <a:t>Write 0 </a:t>
            </a:r>
            <a:r>
              <a:rPr lang="en-US" i="1" dirty="0">
                <a:solidFill>
                  <a:srgbClr val="00B050"/>
                </a:solidFill>
              </a:rPr>
              <a:t>to PRIMASK to </a:t>
            </a:r>
            <a:r>
              <a:rPr lang="en-US" i="1" dirty="0" smtClean="0">
                <a:solidFill>
                  <a:srgbClr val="00B050"/>
                </a:solidFill>
              </a:rPr>
              <a:t>enable all interrupts</a:t>
            </a:r>
            <a:endParaRPr lang="en-US" i="1" dirty="0">
              <a:solidFill>
                <a:srgbClr val="00B050"/>
              </a:solidFill>
            </a:endParaRP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MOV</a:t>
            </a:r>
            <a:r>
              <a:rPr lang="en-US" dirty="0"/>
              <a:t> R0, </a:t>
            </a:r>
            <a:r>
              <a:rPr lang="en-US" dirty="0" smtClean="0"/>
              <a:t>#0</a:t>
            </a:r>
            <a:endParaRPr lang="en-US" dirty="0"/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MSR</a:t>
            </a:r>
            <a:r>
              <a:rPr lang="en-US" dirty="0" smtClean="0"/>
              <a:t> </a:t>
            </a:r>
            <a:r>
              <a:rPr lang="en-US" dirty="0"/>
              <a:t>PRIMASK, </a:t>
            </a:r>
            <a:r>
              <a:rPr lang="en-US" dirty="0" smtClean="0"/>
              <a:t>R0</a:t>
            </a:r>
          </a:p>
          <a:p>
            <a:pPr algn="ctr"/>
            <a:r>
              <a:rPr lang="en-US" i="1" dirty="0">
                <a:solidFill>
                  <a:srgbClr val="00B050"/>
                </a:solidFill>
              </a:rPr>
              <a:t>; Write 1 to PRIMASK to disable all interrupts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MOV</a:t>
            </a:r>
            <a:r>
              <a:rPr lang="en-US" dirty="0"/>
              <a:t> R0, #1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MSR</a:t>
            </a:r>
            <a:r>
              <a:rPr lang="en-US" dirty="0"/>
              <a:t> PRIMASK, R0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4753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Example 2</a:t>
            </a:r>
            <a:endParaRPr lang="en-US" b="1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4219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144392" y="406117"/>
            <a:ext cx="285527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Fault Mask Register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pic>
        <p:nvPicPr>
          <p:cNvPr id="14337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012" y="2743200"/>
            <a:ext cx="8181975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57200" y="1447800"/>
            <a:ext cx="8305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i="1" dirty="0" smtClean="0">
                <a:solidFill>
                  <a:srgbClr val="FF0000"/>
                </a:solidFill>
              </a:rPr>
              <a:t>FAULTMASK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/>
              <a:t>disables all interrupts have a priority more than or equals to </a:t>
            </a:r>
            <a:r>
              <a:rPr lang="en-US" dirty="0" smtClean="0"/>
              <a:t>-1. </a:t>
            </a:r>
            <a:r>
              <a:rPr lang="en-US" dirty="0"/>
              <a:t>It is used to disable all exceptions </a:t>
            </a:r>
            <a:r>
              <a:rPr lang="en-US" dirty="0" smtClean="0"/>
              <a:t>except </a:t>
            </a:r>
            <a:r>
              <a:rPr lang="en-US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Reset</a:t>
            </a:r>
            <a:r>
              <a:rPr lang="en-US" dirty="0" smtClean="0"/>
              <a:t> and </a:t>
            </a:r>
            <a:r>
              <a:rPr lang="en-US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NMI</a:t>
            </a:r>
            <a:r>
              <a:rPr lang="en-US" dirty="0" smtClean="0"/>
              <a:t>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84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182081" y="406117"/>
            <a:ext cx="277992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Assembly Examples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2228208" y="1842529"/>
            <a:ext cx="5086991" cy="1496541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i="1" dirty="0">
                <a:solidFill>
                  <a:srgbClr val="00B050"/>
                </a:solidFill>
              </a:rPr>
              <a:t>; Clear </a:t>
            </a:r>
            <a:r>
              <a:rPr lang="en-US" i="1" dirty="0" smtClean="0">
                <a:solidFill>
                  <a:srgbClr val="00B050"/>
                </a:solidFill>
              </a:rPr>
              <a:t>FAULTMASK </a:t>
            </a:r>
            <a:r>
              <a:rPr lang="en-US" i="1" dirty="0">
                <a:solidFill>
                  <a:srgbClr val="00B050"/>
                </a:solidFill>
              </a:rPr>
              <a:t>(Enable interrupts)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CPSIE</a:t>
            </a:r>
            <a:r>
              <a:rPr lang="en-US" dirty="0" smtClean="0"/>
              <a:t> F </a:t>
            </a:r>
          </a:p>
          <a:p>
            <a:r>
              <a:rPr lang="en-US" i="1" dirty="0">
                <a:solidFill>
                  <a:srgbClr val="00B050"/>
                </a:solidFill>
              </a:rPr>
              <a:t>; Set </a:t>
            </a:r>
            <a:r>
              <a:rPr lang="en-US" i="1" dirty="0" smtClean="0">
                <a:solidFill>
                  <a:srgbClr val="00B050"/>
                </a:solidFill>
              </a:rPr>
              <a:t>FAULTMASK (Disable </a:t>
            </a:r>
            <a:r>
              <a:rPr lang="en-US" i="1" dirty="0">
                <a:solidFill>
                  <a:srgbClr val="00B050"/>
                </a:solidFill>
              </a:rPr>
              <a:t>interrupts)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CPSID</a:t>
            </a:r>
            <a:r>
              <a:rPr lang="en-US" dirty="0" smtClean="0"/>
              <a:t> F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85800" y="14478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Example 1</a:t>
            </a:r>
            <a:endParaRPr lang="en-US" b="1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228208" y="4142259"/>
            <a:ext cx="5239392" cy="1801341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rgbClr val="00B050"/>
                </a:solidFill>
              </a:rPr>
              <a:t>; </a:t>
            </a:r>
            <a:r>
              <a:rPr lang="en-US" i="1" dirty="0" smtClean="0">
                <a:solidFill>
                  <a:srgbClr val="00B050"/>
                </a:solidFill>
              </a:rPr>
              <a:t>Write 0 </a:t>
            </a:r>
            <a:r>
              <a:rPr lang="en-US" i="1" dirty="0">
                <a:solidFill>
                  <a:srgbClr val="00B050"/>
                </a:solidFill>
              </a:rPr>
              <a:t>to FAULTMASK </a:t>
            </a:r>
            <a:r>
              <a:rPr lang="en-US" i="1" dirty="0" smtClean="0">
                <a:solidFill>
                  <a:srgbClr val="00B050"/>
                </a:solidFill>
              </a:rPr>
              <a:t>to enable all interrupts</a:t>
            </a:r>
            <a:endParaRPr lang="en-US" i="1" dirty="0">
              <a:solidFill>
                <a:srgbClr val="00B050"/>
              </a:solidFill>
            </a:endParaRP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MOV</a:t>
            </a:r>
            <a:r>
              <a:rPr lang="en-US" dirty="0"/>
              <a:t> R0, </a:t>
            </a:r>
            <a:r>
              <a:rPr lang="en-US" dirty="0" smtClean="0"/>
              <a:t>#0</a:t>
            </a:r>
            <a:endParaRPr lang="en-US" dirty="0"/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MSR</a:t>
            </a:r>
            <a:r>
              <a:rPr lang="en-US" dirty="0"/>
              <a:t> FAULTMASK , </a:t>
            </a:r>
            <a:r>
              <a:rPr lang="en-US" dirty="0" smtClean="0"/>
              <a:t>R0</a:t>
            </a:r>
          </a:p>
          <a:p>
            <a:pPr algn="ctr"/>
            <a:r>
              <a:rPr lang="en-US" i="1" dirty="0">
                <a:solidFill>
                  <a:srgbClr val="00B050"/>
                </a:solidFill>
              </a:rPr>
              <a:t>; Write 1 to FAULTMASK </a:t>
            </a:r>
            <a:r>
              <a:rPr lang="en-US" i="1" dirty="0" smtClean="0">
                <a:solidFill>
                  <a:srgbClr val="00B050"/>
                </a:solidFill>
              </a:rPr>
              <a:t>to </a:t>
            </a:r>
            <a:r>
              <a:rPr lang="en-US" i="1" dirty="0">
                <a:solidFill>
                  <a:srgbClr val="00B050"/>
                </a:solidFill>
              </a:rPr>
              <a:t>disable all interrupts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MOV</a:t>
            </a:r>
            <a:r>
              <a:rPr lang="en-US" dirty="0"/>
              <a:t> R0, #1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MSR</a:t>
            </a:r>
            <a:r>
              <a:rPr lang="en-US" dirty="0"/>
              <a:t> FAULTMASK , R0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4753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Example 2</a:t>
            </a:r>
            <a:endParaRPr lang="en-US" b="1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8919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644255" y="406117"/>
            <a:ext cx="385554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Base Priority Mask Register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1447800"/>
            <a:ext cx="830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 smtClean="0"/>
              <a:t>The </a:t>
            </a:r>
            <a:r>
              <a:rPr lang="en-US" b="1" i="1" dirty="0">
                <a:solidFill>
                  <a:srgbClr val="FF0000"/>
                </a:solidFill>
              </a:rPr>
              <a:t>BASEPRI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register defines the minimum priority for exception processing. When BASEPRI is set to a nonzero value, it prevents the activation of all exceptions with the same or lower priority level as the BASEPRI value</a:t>
            </a:r>
            <a:r>
              <a:rPr lang="en-US" dirty="0" smtClean="0"/>
              <a:t>.</a:t>
            </a:r>
            <a:endParaRPr lang="en-US" dirty="0"/>
          </a:p>
          <a:p>
            <a:pPr algn="just"/>
            <a:endParaRPr lang="en-US" dirty="0"/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821" y="2642455"/>
            <a:ext cx="7277100" cy="3502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8986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182081" y="406117"/>
            <a:ext cx="277992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Assembly Examples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2228208" y="1842529"/>
            <a:ext cx="5086991" cy="1281671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i="1" dirty="0">
                <a:solidFill>
                  <a:srgbClr val="00B050"/>
                </a:solidFill>
              </a:rPr>
              <a:t>; Disable interrupts with </a:t>
            </a:r>
            <a:r>
              <a:rPr lang="en-US" i="1" dirty="0" smtClean="0">
                <a:solidFill>
                  <a:srgbClr val="00B050"/>
                </a:solidFill>
              </a:rPr>
              <a:t>priority 0x60-0xFF</a:t>
            </a:r>
            <a:endParaRPr lang="en-US" i="1" dirty="0">
              <a:solidFill>
                <a:srgbClr val="00B050"/>
              </a:solidFill>
            </a:endParaRP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MOV</a:t>
            </a:r>
            <a:r>
              <a:rPr lang="en-US" dirty="0" smtClean="0"/>
              <a:t> </a:t>
            </a:r>
            <a:r>
              <a:rPr lang="en-US" dirty="0"/>
              <a:t>R0, #0x60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MSR</a:t>
            </a:r>
            <a:r>
              <a:rPr lang="en-US" dirty="0"/>
              <a:t> BASEPRI, </a:t>
            </a:r>
            <a:r>
              <a:rPr lang="en-US" dirty="0" smtClean="0"/>
              <a:t>R0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85800" y="14478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Example 1</a:t>
            </a:r>
            <a:endParaRPr lang="en-US" b="1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228208" y="4142259"/>
            <a:ext cx="5239392" cy="1496541"/>
          </a:xfrm>
          <a:prstGeom prst="roundRect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rgbClr val="00B050"/>
                </a:solidFill>
              </a:rPr>
              <a:t>;Turn </a:t>
            </a:r>
            <a:r>
              <a:rPr lang="en-US" i="1" dirty="0">
                <a:solidFill>
                  <a:srgbClr val="00B050"/>
                </a:solidFill>
              </a:rPr>
              <a:t>off BASEPRI masking</a:t>
            </a:r>
          </a:p>
          <a:p>
            <a:pPr algn="ctr"/>
            <a:r>
              <a:rPr lang="en-US" b="1" dirty="0" smtClean="0">
                <a:solidFill>
                  <a:srgbClr val="FF0000"/>
                </a:solidFill>
              </a:rPr>
              <a:t>MOV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/>
              <a:t>R0, #0x0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MSR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BASEPRI, </a:t>
            </a:r>
            <a:r>
              <a:rPr lang="en-US" dirty="0" smtClean="0"/>
              <a:t>R0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85800" y="374753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Example 2</a:t>
            </a:r>
            <a:endParaRPr lang="en-US" b="1" i="1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5032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152400"/>
            <a:ext cx="1524000" cy="941859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897538" y="406117"/>
            <a:ext cx="334899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latin typeface="Bradley Hand ITC" pitchFamily="66" charset="0"/>
              </a:rPr>
              <a:t>Register File Summery</a:t>
            </a:r>
            <a:endParaRPr lang="en-US" sz="2400" b="1" cap="none" spc="0" dirty="0" smtClean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  <a:latin typeface="Bradley Hand ITC" pitchFamily="66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433157"/>
              </p:ext>
            </p:extLst>
          </p:nvPr>
        </p:nvGraphicFramePr>
        <p:xfrm>
          <a:off x="533400" y="1285240"/>
          <a:ext cx="8077199" cy="519176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1232815"/>
                <a:gridCol w="851197"/>
                <a:gridCol w="1300693"/>
                <a:gridCol w="1660513"/>
                <a:gridCol w="3031981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Privilege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Reset Value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R0-R12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RW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Either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Unknown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effectLst/>
                      </a:endParaRPr>
                    </a:p>
                  </a:txBody>
                  <a:tcPr marL="44812" marR="44812" marT="22406" marB="22406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MSP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RW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Privileged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See description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effectLst/>
                      </a:endParaRPr>
                    </a:p>
                  </a:txBody>
                  <a:tcPr marL="44812" marR="44812" marT="22406" marB="22406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PSP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RW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Either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Unknown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effectLst/>
                      </a:endParaRPr>
                    </a:p>
                  </a:txBody>
                  <a:tcPr marL="44812" marR="44812" marT="22406" marB="22406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LR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RW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Either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0xFFFFFFFF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effectLst/>
                      </a:endParaRPr>
                    </a:p>
                  </a:txBody>
                  <a:tcPr marL="44812" marR="44812" marT="22406" marB="22406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PC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RW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Either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See description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effectLst/>
                      </a:endParaRPr>
                    </a:p>
                  </a:txBody>
                  <a:tcPr marL="44812" marR="44812" marT="22406" marB="22406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PSR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RW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Privileged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0x01000000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effectLst/>
                      </a:endParaRPr>
                    </a:p>
                  </a:txBody>
                  <a:tcPr marL="44812" marR="44812" marT="22406" marB="22406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ASPR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RW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Either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Unknown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effectLst/>
                      </a:endParaRPr>
                    </a:p>
                  </a:txBody>
                  <a:tcPr marL="44812" marR="44812" marT="22406" marB="22406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IPSR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RO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Privileged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0x00000000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effectLst/>
                      </a:endParaRPr>
                    </a:p>
                  </a:txBody>
                  <a:tcPr marL="44812" marR="44812" marT="22406" marB="22406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EPSR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RO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>
                          <a:effectLst/>
                        </a:rPr>
                        <a:t>Privileged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0x01000000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effectLst/>
                      </a:endParaRPr>
                    </a:p>
                  </a:txBody>
                  <a:tcPr marL="44812" marR="44812" marT="22406" marB="22406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PRIMASK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RW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Privileged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0x00000000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effectLst/>
                      </a:endParaRPr>
                    </a:p>
                  </a:txBody>
                  <a:tcPr marL="44812" marR="44812" marT="22406" marB="22406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FAULTMASK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RW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Privileged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0x00000000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effectLst/>
                      </a:endParaRPr>
                    </a:p>
                  </a:txBody>
                  <a:tcPr marL="44812" marR="44812" marT="22406" marB="22406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BASEPRI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RW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Privileged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0x00000000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effectLst/>
                      </a:endParaRPr>
                    </a:p>
                  </a:txBody>
                  <a:tcPr marL="44812" marR="44812" marT="22406" marB="22406"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CONTROL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RW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Privileged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effectLst/>
                        </a:rPr>
                        <a:t>0x00000000</a:t>
                      </a:r>
                    </a:p>
                  </a:txBody>
                  <a:tcPr marL="44812" marR="44812" marT="22406" marB="22406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effectLst/>
                      </a:endParaRPr>
                    </a:p>
                  </a:txBody>
                  <a:tcPr marL="44812" marR="44812" marT="22406" marB="22406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9844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85800" y="6553200"/>
            <a:ext cx="8153400" cy="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304800" y="6705600"/>
            <a:ext cx="8693888" cy="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8998688" y="228600"/>
            <a:ext cx="0" cy="6477000"/>
          </a:xfrm>
          <a:prstGeom prst="line">
            <a:avLst/>
          </a:prstGeom>
          <a:ln w="85725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8839200" y="838200"/>
            <a:ext cx="0" cy="5715000"/>
          </a:xfrm>
          <a:prstGeom prst="lin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381000"/>
            <a:ext cx="4515255" cy="27905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9200" y="5943600"/>
            <a:ext cx="678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i="1" dirty="0" smtClean="0"/>
              <a:t>This material is developed by </a:t>
            </a:r>
            <a:r>
              <a:rPr lang="en-US" sz="1200" b="1" i="1" dirty="0" err="1" smtClean="0"/>
              <a:t>IMTSchool</a:t>
            </a:r>
            <a:r>
              <a:rPr lang="en-US" sz="1200" b="1" i="1" dirty="0" smtClean="0"/>
              <a:t> for educational use only</a:t>
            </a:r>
          </a:p>
          <a:p>
            <a:pPr algn="ctr"/>
            <a:r>
              <a:rPr lang="en-US" sz="1200" b="1" i="1" dirty="0" smtClean="0"/>
              <a:t>All copyrights are reserved</a:t>
            </a:r>
            <a:endParaRPr lang="en-US" sz="1200" b="1" i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384" y="3646251"/>
            <a:ext cx="653616" cy="65361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0992" y="4495800"/>
            <a:ext cx="660400" cy="66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0" y="3733800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www.imtschool.com</a:t>
            </a:r>
            <a:endParaRPr lang="en-US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184850" y="4659868"/>
            <a:ext cx="4358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ww.facebook.com/</a:t>
            </a:r>
            <a:r>
              <a:rPr lang="en-US" b="1" dirty="0" err="1" smtClean="0"/>
              <a:t>imaketechnologyschool</a:t>
            </a:r>
            <a:r>
              <a:rPr lang="en-US" b="1" dirty="0" smtClean="0"/>
              <a:t>/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910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1676</TotalTime>
  <Words>1182</Words>
  <Application>Microsoft Office PowerPoint</Application>
  <PresentationFormat>On-screen Show (4:3)</PresentationFormat>
  <Paragraphs>283</Paragraphs>
  <Slides>24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</dc:creator>
  <cp:lastModifiedBy>Ahmed</cp:lastModifiedBy>
  <cp:revision>101</cp:revision>
  <dcterms:created xsi:type="dcterms:W3CDTF">2017-07-05T23:12:25Z</dcterms:created>
  <dcterms:modified xsi:type="dcterms:W3CDTF">2018-05-12T22:53:11Z</dcterms:modified>
</cp:coreProperties>
</file>