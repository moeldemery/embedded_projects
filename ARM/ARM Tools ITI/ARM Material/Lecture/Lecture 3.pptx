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95" r:id="rId2"/>
    <p:sldId id="397" r:id="rId3"/>
    <p:sldId id="398" r:id="rId4"/>
    <p:sldId id="399" r:id="rId5"/>
    <p:sldId id="400" r:id="rId6"/>
    <p:sldId id="401" r:id="rId7"/>
    <p:sldId id="402" r:id="rId8"/>
    <p:sldId id="403" r:id="rId9"/>
    <p:sldId id="404" r:id="rId10"/>
    <p:sldId id="405" r:id="rId11"/>
    <p:sldId id="406" r:id="rId12"/>
    <p:sldId id="407" r:id="rId13"/>
    <p:sldId id="408" r:id="rId14"/>
    <p:sldId id="409" r:id="rId15"/>
    <p:sldId id="410" r:id="rId16"/>
    <p:sldId id="411" r:id="rId17"/>
    <p:sldId id="29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0" d="100"/>
          <a:sy n="60" d="100"/>
        </p:scale>
        <p:origin x="-1012" y="-7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8A8C5EA-8DAD-4B80-9FEF-C03E3F2EAE0E}" type="datetimeFigureOut">
              <a:rPr lang="en-US" smtClean="0"/>
              <a:t>5/11/2018</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FFB8CD1-068E-4176-930F-B6EC7CC19DB2}" type="slidenum">
              <a:rPr lang="en-US" smtClean="0"/>
              <a:t>‹#›</a:t>
            </a:fld>
            <a:endParaRPr lang="en-US"/>
          </a:p>
        </p:txBody>
      </p:sp>
    </p:spTree>
    <p:extLst>
      <p:ext uri="{BB962C8B-B14F-4D97-AF65-F5344CB8AC3E}">
        <p14:creationId xmlns:p14="http://schemas.microsoft.com/office/powerpoint/2010/main" val="114284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D540B00-2224-4A96-92D8-9FF01C13E9BE}" type="datetimeFigureOut">
              <a:rPr lang="en-US" smtClean="0"/>
              <a:t>5/11/2018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941623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540B00-2224-4A96-92D8-9FF01C13E9BE}" type="datetimeFigureOut">
              <a:rPr lang="en-US" smtClean="0"/>
              <a:t>5/11/2018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2392053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D540B00-2224-4A96-92D8-9FF01C13E9BE}" type="datetimeFigureOut">
              <a:rPr lang="en-US" smtClean="0"/>
              <a:t>5/11/2018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2878540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540B00-2224-4A96-92D8-9FF01C13E9BE}" type="datetimeFigureOut">
              <a:rPr lang="en-US" smtClean="0"/>
              <a:t>5/11/2018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16395138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D540B00-2224-4A96-92D8-9FF01C13E9BE}" type="datetimeFigureOut">
              <a:rPr lang="en-US" smtClean="0"/>
              <a:t>5/11/2018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3108729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D540B00-2224-4A96-92D8-9FF01C13E9BE}" type="datetimeFigureOut">
              <a:rPr lang="en-US" smtClean="0"/>
              <a:t>5/11/2018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658487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D540B00-2224-4A96-92D8-9FF01C13E9BE}" type="datetimeFigureOut">
              <a:rPr lang="en-US" smtClean="0"/>
              <a:t>5/11/2018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1981629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540B00-2224-4A96-92D8-9FF01C13E9BE}" type="datetimeFigureOut">
              <a:rPr lang="en-US" smtClean="0"/>
              <a:t>5/11/2018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1546491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D540B00-2224-4A96-92D8-9FF01C13E9BE}" type="datetimeFigureOut">
              <a:rPr lang="en-US" smtClean="0"/>
              <a:t>5/11/2018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244162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540B00-2224-4A96-92D8-9FF01C13E9BE}" type="datetimeFigureOut">
              <a:rPr lang="en-US" smtClean="0"/>
              <a:t>5/11/2018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2355157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D540B00-2224-4A96-92D8-9FF01C13E9BE}" type="datetimeFigureOut">
              <a:rPr lang="en-US" smtClean="0"/>
              <a:t>5/11/2018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797D8-AAFC-47EB-8095-2547FC928551}" type="slidenum">
              <a:rPr lang="en-US" smtClean="0"/>
              <a:t>‹#›</a:t>
            </a:fld>
            <a:endParaRPr lang="en-US"/>
          </a:p>
        </p:txBody>
      </p:sp>
    </p:spTree>
    <p:extLst>
      <p:ext uri="{BB962C8B-B14F-4D97-AF65-F5344CB8AC3E}">
        <p14:creationId xmlns:p14="http://schemas.microsoft.com/office/powerpoint/2010/main" val="1014379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540B00-2224-4A96-92D8-9FF01C13E9BE}" type="datetimeFigureOut">
              <a:rPr lang="en-US" smtClean="0"/>
              <a:t>5/11/2018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4797D8-AAFC-47EB-8095-2547FC928551}" type="slidenum">
              <a:rPr lang="en-US" smtClean="0"/>
              <a:t>‹#›</a:t>
            </a:fld>
            <a:endParaRPr lang="en-US"/>
          </a:p>
        </p:txBody>
      </p:sp>
    </p:spTree>
    <p:extLst>
      <p:ext uri="{BB962C8B-B14F-4D97-AF65-F5344CB8AC3E}">
        <p14:creationId xmlns:p14="http://schemas.microsoft.com/office/powerpoint/2010/main" val="20695040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381000"/>
            <a:ext cx="4515255" cy="2790508"/>
          </a:xfrm>
          <a:prstGeom prst="rect">
            <a:avLst/>
          </a:prstGeom>
        </p:spPr>
      </p:pic>
      <p:sp>
        <p:nvSpPr>
          <p:cNvPr id="29" name="Rectangle 28"/>
          <p:cNvSpPr/>
          <p:nvPr/>
        </p:nvSpPr>
        <p:spPr>
          <a:xfrm>
            <a:off x="2414602" y="3276600"/>
            <a:ext cx="4474303" cy="1938992"/>
          </a:xfrm>
          <a:prstGeom prst="rect">
            <a:avLst/>
          </a:prstGeom>
          <a:noFill/>
        </p:spPr>
        <p:txBody>
          <a:bodyPr wrap="none" lIns="91440" tIns="45720" rIns="91440" bIns="45720">
            <a:spAutoFit/>
          </a:bodyPr>
          <a:lstStyle/>
          <a:p>
            <a:pPr algn="ctr"/>
            <a:r>
              <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rPr>
              <a:t>Nested Interrupt Vector Controller</a:t>
            </a:r>
          </a:p>
          <a:p>
            <a:pPr algn="ct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a:p>
            <a:pPr algn="ctr"/>
            <a:r>
              <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rPr>
              <a:t>Lecture 3</a:t>
            </a:r>
          </a:p>
          <a:p>
            <a:pPr algn="ct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a:p>
            <a:pPr algn="ctr"/>
            <a:r>
              <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rPr>
              <a:t>Introduction to ARM Processor</a:t>
            </a:r>
          </a:p>
        </p:txBody>
      </p:sp>
      <p:sp>
        <p:nvSpPr>
          <p:cNvPr id="4" name="TextBox 3"/>
          <p:cNvSpPr txBox="1"/>
          <p:nvPr/>
        </p:nvSpPr>
        <p:spPr>
          <a:xfrm>
            <a:off x="1219200" y="5943600"/>
            <a:ext cx="6781800" cy="461665"/>
          </a:xfrm>
          <a:prstGeom prst="rect">
            <a:avLst/>
          </a:prstGeom>
          <a:noFill/>
        </p:spPr>
        <p:txBody>
          <a:bodyPr wrap="square" rtlCol="0">
            <a:spAutoFit/>
          </a:bodyPr>
          <a:lstStyle/>
          <a:p>
            <a:pPr algn="ctr"/>
            <a:r>
              <a:rPr lang="en-US" sz="1200" b="1" i="1" dirty="0" smtClean="0"/>
              <a:t>This material is developed by </a:t>
            </a:r>
            <a:r>
              <a:rPr lang="en-US" sz="1200" b="1" i="1" dirty="0" err="1" smtClean="0"/>
              <a:t>IMTSchool</a:t>
            </a:r>
            <a:r>
              <a:rPr lang="en-US" sz="1200" b="1" i="1" dirty="0" smtClean="0"/>
              <a:t> for educational use only</a:t>
            </a:r>
          </a:p>
          <a:p>
            <a:pPr algn="ctr"/>
            <a:r>
              <a:rPr lang="en-US" sz="1200" b="1" i="1" dirty="0" smtClean="0"/>
              <a:t>All copyrights are reserved</a:t>
            </a:r>
            <a:endParaRPr lang="en-US" sz="1200" b="1" i="1" dirty="0"/>
          </a:p>
        </p:txBody>
      </p:sp>
    </p:spTree>
    <p:extLst>
      <p:ext uri="{BB962C8B-B14F-4D97-AF65-F5344CB8AC3E}">
        <p14:creationId xmlns:p14="http://schemas.microsoft.com/office/powerpoint/2010/main" val="29075442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004139" y="406117"/>
            <a:ext cx="313579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Definition of Exception</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sp>
        <p:nvSpPr>
          <p:cNvPr id="2" name="TextBox 1"/>
          <p:cNvSpPr txBox="1"/>
          <p:nvPr/>
        </p:nvSpPr>
        <p:spPr>
          <a:xfrm>
            <a:off x="457200" y="1524000"/>
            <a:ext cx="8153400" cy="1754326"/>
          </a:xfrm>
          <a:prstGeom prst="rect">
            <a:avLst/>
          </a:prstGeom>
          <a:noFill/>
        </p:spPr>
        <p:txBody>
          <a:bodyPr wrap="square" rtlCol="0">
            <a:spAutoFit/>
          </a:bodyPr>
          <a:lstStyle/>
          <a:p>
            <a:pPr algn="just"/>
            <a:r>
              <a:rPr lang="en-US" b="1" i="1" dirty="0" smtClean="0">
                <a:solidFill>
                  <a:srgbClr val="FF0000"/>
                </a:solidFill>
              </a:rPr>
              <a:t>Exceptions</a:t>
            </a:r>
            <a:r>
              <a:rPr lang="en-US" dirty="0" smtClean="0"/>
              <a:t> are events which are generated asynchronously either from inside the core itself or from the external peripherals. In general any even that disturb the normal behavior of the processor is an exception.</a:t>
            </a:r>
          </a:p>
          <a:p>
            <a:pPr algn="just"/>
            <a:endParaRPr lang="en-US" dirty="0"/>
          </a:p>
          <a:p>
            <a:pPr algn="just"/>
            <a:r>
              <a:rPr lang="en-US" b="1" i="1" dirty="0" smtClean="0">
                <a:solidFill>
                  <a:srgbClr val="FF0000"/>
                </a:solidFill>
              </a:rPr>
              <a:t>Interrupts</a:t>
            </a:r>
            <a:r>
              <a:rPr lang="en-US" dirty="0" smtClean="0"/>
              <a:t> are used with exceptions from the external peripherals. In other words interrupt is nothing but an exception external to the processor core.</a:t>
            </a:r>
            <a:endParaRPr lang="en-US" dirty="0"/>
          </a:p>
        </p:txBody>
      </p:sp>
      <p:sp>
        <p:nvSpPr>
          <p:cNvPr id="7" name="TextBox 6"/>
          <p:cNvSpPr txBox="1"/>
          <p:nvPr/>
        </p:nvSpPr>
        <p:spPr>
          <a:xfrm>
            <a:off x="1981200" y="3429000"/>
            <a:ext cx="5486400" cy="461665"/>
          </a:xfrm>
          <a:prstGeom prst="rect">
            <a:avLst/>
          </a:prstGeom>
          <a:noFill/>
        </p:spPr>
        <p:txBody>
          <a:bodyPr wrap="square" rtlCol="0">
            <a:spAutoFit/>
          </a:bodyPr>
          <a:lstStyle/>
          <a:p>
            <a:r>
              <a:rPr lang="en-US" b="1" u="sng" dirty="0" smtClean="0"/>
              <a:t>ARM Cortex M3/M4 Supports </a:t>
            </a:r>
            <a:r>
              <a:rPr lang="en-US" sz="2400" b="1" u="sng" dirty="0" smtClean="0">
                <a:solidFill>
                  <a:srgbClr val="FF0000"/>
                </a:solidFill>
              </a:rPr>
              <a:t>255</a:t>
            </a:r>
            <a:r>
              <a:rPr lang="en-US" b="1" u="sng" dirty="0" smtClean="0"/>
              <a:t> exceptions</a:t>
            </a:r>
            <a:endParaRPr lang="en-US" b="1" u="sng" dirty="0"/>
          </a:p>
        </p:txBody>
      </p:sp>
      <p:sp>
        <p:nvSpPr>
          <p:cNvPr id="11" name="TextBox 10"/>
          <p:cNvSpPr txBox="1"/>
          <p:nvPr/>
        </p:nvSpPr>
        <p:spPr>
          <a:xfrm>
            <a:off x="838200" y="5029200"/>
            <a:ext cx="2165939" cy="400110"/>
          </a:xfrm>
          <a:prstGeom prst="rect">
            <a:avLst/>
          </a:prstGeom>
          <a:noFill/>
        </p:spPr>
        <p:txBody>
          <a:bodyPr wrap="square" rtlCol="0">
            <a:spAutoFit/>
          </a:bodyPr>
          <a:lstStyle/>
          <a:p>
            <a:r>
              <a:rPr lang="en-US" sz="2000" b="1" dirty="0" smtClean="0"/>
              <a:t>15</a:t>
            </a:r>
            <a:r>
              <a:rPr lang="en-US" sz="2000" dirty="0" smtClean="0"/>
              <a:t> </a:t>
            </a:r>
            <a:r>
              <a:rPr lang="en-US" b="1" dirty="0" smtClean="0">
                <a:solidFill>
                  <a:schemeClr val="tx2">
                    <a:lumMod val="60000"/>
                    <a:lumOff val="40000"/>
                  </a:schemeClr>
                </a:solidFill>
              </a:rPr>
              <a:t>System Exception</a:t>
            </a:r>
            <a:endParaRPr lang="en-US" b="1" dirty="0">
              <a:solidFill>
                <a:schemeClr val="tx2">
                  <a:lumMod val="60000"/>
                  <a:lumOff val="40000"/>
                </a:schemeClr>
              </a:solidFill>
            </a:endParaRPr>
          </a:p>
        </p:txBody>
      </p:sp>
      <p:sp>
        <p:nvSpPr>
          <p:cNvPr id="25" name="TextBox 24"/>
          <p:cNvSpPr txBox="1"/>
          <p:nvPr/>
        </p:nvSpPr>
        <p:spPr>
          <a:xfrm>
            <a:off x="6139861" y="5029200"/>
            <a:ext cx="1708739" cy="400110"/>
          </a:xfrm>
          <a:prstGeom prst="rect">
            <a:avLst/>
          </a:prstGeom>
          <a:noFill/>
        </p:spPr>
        <p:txBody>
          <a:bodyPr wrap="square" rtlCol="0">
            <a:spAutoFit/>
          </a:bodyPr>
          <a:lstStyle/>
          <a:p>
            <a:r>
              <a:rPr lang="en-US" sz="2000" b="1" dirty="0" smtClean="0"/>
              <a:t>240</a:t>
            </a:r>
            <a:r>
              <a:rPr lang="en-US" sz="2000" dirty="0" smtClean="0"/>
              <a:t> </a:t>
            </a:r>
            <a:r>
              <a:rPr lang="en-US" b="1" dirty="0">
                <a:solidFill>
                  <a:schemeClr val="tx2">
                    <a:lumMod val="60000"/>
                    <a:lumOff val="40000"/>
                  </a:schemeClr>
                </a:solidFill>
              </a:rPr>
              <a:t>Interrupts</a:t>
            </a:r>
          </a:p>
        </p:txBody>
      </p:sp>
      <p:cxnSp>
        <p:nvCxnSpPr>
          <p:cNvPr id="41" name="Elbow Connector 40"/>
          <p:cNvCxnSpPr>
            <a:endCxn id="11" idx="0"/>
          </p:cNvCxnSpPr>
          <p:nvPr/>
        </p:nvCxnSpPr>
        <p:spPr>
          <a:xfrm rot="10800000" flipV="1">
            <a:off x="1921170" y="4283332"/>
            <a:ext cx="2841330" cy="745868"/>
          </a:xfrm>
          <a:prstGeom prst="bentConnector2">
            <a:avLst/>
          </a:prstGeom>
          <a:ln w="2540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4" name="Elbow Connector 43"/>
          <p:cNvCxnSpPr>
            <a:endCxn id="25" idx="0"/>
          </p:cNvCxnSpPr>
          <p:nvPr/>
        </p:nvCxnSpPr>
        <p:spPr>
          <a:xfrm>
            <a:off x="4651744" y="4283332"/>
            <a:ext cx="2342487" cy="745868"/>
          </a:xfrm>
          <a:prstGeom prst="bentConnector2">
            <a:avLst/>
          </a:prstGeom>
          <a:ln w="25400">
            <a:solidFill>
              <a:schemeClr val="accent3">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p:nvPr/>
        </p:nvCxnSpPr>
        <p:spPr>
          <a:xfrm>
            <a:off x="4343400" y="3890665"/>
            <a:ext cx="0" cy="392667"/>
          </a:xfrm>
          <a:prstGeom prst="line">
            <a:avLst/>
          </a:prstGeom>
          <a:ln w="254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8445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195431" y="406117"/>
            <a:ext cx="475322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Nested Vectored Interrupt Controller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sp>
        <p:nvSpPr>
          <p:cNvPr id="2" name="TextBox 1"/>
          <p:cNvSpPr txBox="1"/>
          <p:nvPr/>
        </p:nvSpPr>
        <p:spPr>
          <a:xfrm>
            <a:off x="304800" y="1772483"/>
            <a:ext cx="8305800" cy="4247317"/>
          </a:xfrm>
          <a:prstGeom prst="rect">
            <a:avLst/>
          </a:prstGeom>
          <a:noFill/>
        </p:spPr>
        <p:txBody>
          <a:bodyPr wrap="square" rtlCol="0">
            <a:spAutoFit/>
          </a:bodyPr>
          <a:lstStyle/>
          <a:p>
            <a:pPr algn="just"/>
            <a:r>
              <a:rPr lang="en-US" dirty="0" smtClean="0"/>
              <a:t>The Nested Vectored Interrupt Controller </a:t>
            </a:r>
            <a:r>
              <a:rPr lang="en-US" b="1" i="1" dirty="0" smtClean="0">
                <a:solidFill>
                  <a:srgbClr val="FF0000"/>
                </a:solidFill>
              </a:rPr>
              <a:t>NVIC</a:t>
            </a:r>
            <a:r>
              <a:rPr lang="en-US" dirty="0" smtClean="0">
                <a:solidFill>
                  <a:srgbClr val="FF0000"/>
                </a:solidFill>
              </a:rPr>
              <a:t> </a:t>
            </a:r>
            <a:r>
              <a:rPr lang="en-US" dirty="0" smtClean="0"/>
              <a:t>is</a:t>
            </a:r>
            <a:r>
              <a:rPr lang="en-US" dirty="0"/>
              <a:t> an integrated part of the </a:t>
            </a:r>
            <a:r>
              <a:rPr lang="en-US" dirty="0" smtClean="0"/>
              <a:t>Cortex</a:t>
            </a:r>
            <a:r>
              <a:rPr lang="en-US" dirty="0"/>
              <a:t> </a:t>
            </a:r>
            <a:r>
              <a:rPr lang="en-US" dirty="0" smtClean="0"/>
              <a:t>M3/M4</a:t>
            </a:r>
            <a:r>
              <a:rPr lang="en-US" dirty="0"/>
              <a:t> </a:t>
            </a:r>
            <a:r>
              <a:rPr lang="en-US" dirty="0" smtClean="0"/>
              <a:t>processor</a:t>
            </a:r>
            <a:r>
              <a:rPr lang="en-US" dirty="0"/>
              <a:t>. It is closely linked to </a:t>
            </a:r>
            <a:r>
              <a:rPr lang="en-US" dirty="0" smtClean="0"/>
              <a:t>the CPU</a:t>
            </a:r>
            <a:r>
              <a:rPr lang="en-US" dirty="0"/>
              <a:t> core </a:t>
            </a:r>
            <a:r>
              <a:rPr lang="en-US" dirty="0" smtClean="0"/>
              <a:t>logic and</a:t>
            </a:r>
            <a:r>
              <a:rPr lang="en-US" dirty="0"/>
              <a:t> Its control registers are accessible </a:t>
            </a:r>
            <a:r>
              <a:rPr lang="en-US" dirty="0" smtClean="0"/>
              <a:t>as</a:t>
            </a:r>
            <a:r>
              <a:rPr lang="en-US" dirty="0"/>
              <a:t> </a:t>
            </a:r>
            <a:r>
              <a:rPr lang="en-US" b="1" i="1" dirty="0" smtClean="0">
                <a:solidFill>
                  <a:schemeClr val="tx2">
                    <a:lumMod val="60000"/>
                    <a:lumOff val="40000"/>
                  </a:schemeClr>
                </a:solidFill>
              </a:rPr>
              <a:t>memory mapped</a:t>
            </a:r>
            <a:r>
              <a:rPr lang="en-US" dirty="0" smtClean="0"/>
              <a:t>. It provides the following features:</a:t>
            </a:r>
          </a:p>
          <a:p>
            <a:pPr algn="just"/>
            <a:endParaRPr lang="en-US" dirty="0"/>
          </a:p>
          <a:p>
            <a:pPr marL="1257300" lvl="2" indent="-342900" algn="just">
              <a:buFont typeface="+mj-lt"/>
              <a:buAutoNum type="arabicPeriod"/>
            </a:pPr>
            <a:r>
              <a:rPr lang="en-US" dirty="0" smtClean="0"/>
              <a:t>Nested</a:t>
            </a:r>
            <a:r>
              <a:rPr lang="en-US" dirty="0"/>
              <a:t> interrupt </a:t>
            </a:r>
            <a:r>
              <a:rPr lang="en-US" dirty="0" smtClean="0"/>
              <a:t>support</a:t>
            </a:r>
            <a:r>
              <a:rPr lang="en-US" dirty="0"/>
              <a:t> </a:t>
            </a:r>
          </a:p>
          <a:p>
            <a:pPr marL="1257300" lvl="2" indent="-342900" algn="just">
              <a:buFont typeface="+mj-lt"/>
              <a:buAutoNum type="arabicPeriod"/>
            </a:pPr>
            <a:r>
              <a:rPr lang="en-US" dirty="0"/>
              <a:t>Vectored interrupt </a:t>
            </a:r>
            <a:r>
              <a:rPr lang="en-US" dirty="0" smtClean="0"/>
              <a:t>support</a:t>
            </a:r>
            <a:endParaRPr lang="en-US" dirty="0"/>
          </a:p>
          <a:p>
            <a:pPr marL="1257300" lvl="2" indent="-342900" algn="just">
              <a:buFont typeface="+mj-lt"/>
              <a:buAutoNum type="arabicPeriod"/>
            </a:pPr>
            <a:r>
              <a:rPr lang="en-US" dirty="0"/>
              <a:t>Dynamic priority changes </a:t>
            </a:r>
            <a:r>
              <a:rPr lang="en-US" dirty="0" smtClean="0"/>
              <a:t>support</a:t>
            </a:r>
            <a:r>
              <a:rPr lang="en-US" dirty="0"/>
              <a:t> </a:t>
            </a:r>
          </a:p>
          <a:p>
            <a:pPr marL="1257300" lvl="2" indent="-342900" algn="just">
              <a:buFont typeface="+mj-lt"/>
              <a:buAutoNum type="arabicPeriod"/>
            </a:pPr>
            <a:r>
              <a:rPr lang="en-US" dirty="0"/>
              <a:t>Reduction of interrupt </a:t>
            </a:r>
            <a:r>
              <a:rPr lang="en-US" dirty="0" smtClean="0"/>
              <a:t>latency</a:t>
            </a:r>
            <a:endParaRPr lang="en-US" dirty="0"/>
          </a:p>
          <a:p>
            <a:pPr marL="1257300" lvl="2" indent="-342900" algn="just">
              <a:buFont typeface="+mj-lt"/>
              <a:buAutoNum type="arabicPeriod"/>
            </a:pPr>
            <a:r>
              <a:rPr lang="en-US" dirty="0"/>
              <a:t>Interrupt </a:t>
            </a:r>
            <a:r>
              <a:rPr lang="en-US" dirty="0" smtClean="0"/>
              <a:t>masking</a:t>
            </a:r>
          </a:p>
          <a:p>
            <a:pPr marL="342900" indent="-342900" algn="just">
              <a:buFont typeface="+mj-lt"/>
              <a:buAutoNum type="arabicPeriod"/>
            </a:pPr>
            <a:endParaRPr lang="en-US" dirty="0"/>
          </a:p>
          <a:p>
            <a:pPr algn="justLow"/>
            <a:r>
              <a:rPr lang="en-US" dirty="0" smtClean="0"/>
              <a:t>The NVIC controls the interrupts as well as the </a:t>
            </a:r>
            <a:r>
              <a:rPr lang="en-US" dirty="0"/>
              <a:t>system exceptions. The NVIC can be accessed in the System Control Space (SCS) address range, which is </a:t>
            </a:r>
            <a:r>
              <a:rPr lang="en-US" dirty="0" smtClean="0"/>
              <a:t>memory location</a:t>
            </a:r>
            <a:r>
              <a:rPr lang="en-US" dirty="0"/>
              <a:t> </a:t>
            </a:r>
            <a:r>
              <a:rPr lang="en-US" b="1" i="1" dirty="0">
                <a:solidFill>
                  <a:srgbClr val="FF0000"/>
                </a:solidFill>
              </a:rPr>
              <a:t>0xE000E000</a:t>
            </a:r>
            <a:r>
              <a:rPr lang="en-US" dirty="0"/>
              <a:t>. Most of the interrupt control/status registers </a:t>
            </a:r>
            <a:r>
              <a:rPr lang="en-US" dirty="0" smtClean="0"/>
              <a:t>are accessible</a:t>
            </a:r>
            <a:r>
              <a:rPr lang="en-US" dirty="0"/>
              <a:t> only in </a:t>
            </a:r>
            <a:r>
              <a:rPr lang="en-US" b="1" i="1" dirty="0">
                <a:solidFill>
                  <a:schemeClr val="tx2">
                    <a:lumMod val="60000"/>
                    <a:lumOff val="40000"/>
                  </a:schemeClr>
                </a:solidFill>
              </a:rPr>
              <a:t>privileged </a:t>
            </a:r>
            <a:r>
              <a:rPr lang="en-US" b="1" i="1" dirty="0" smtClean="0">
                <a:solidFill>
                  <a:schemeClr val="tx2">
                    <a:lumMod val="60000"/>
                    <a:lumOff val="40000"/>
                  </a:schemeClr>
                </a:solidFill>
              </a:rPr>
              <a:t>mode</a:t>
            </a:r>
            <a:r>
              <a:rPr lang="en-US" dirty="0"/>
              <a:t>, except the Software Trigger </a:t>
            </a:r>
            <a:r>
              <a:rPr lang="en-US" dirty="0" smtClean="0"/>
              <a:t>Interrupt register</a:t>
            </a:r>
            <a:r>
              <a:rPr lang="en-US" dirty="0"/>
              <a:t> (STIR), which can be set up to be accessible in </a:t>
            </a:r>
            <a:r>
              <a:rPr lang="en-US" dirty="0" smtClean="0"/>
              <a:t>user</a:t>
            </a:r>
            <a:r>
              <a:rPr lang="en-US" dirty="0"/>
              <a:t> </a:t>
            </a:r>
            <a:r>
              <a:rPr lang="en-US" dirty="0" smtClean="0"/>
              <a:t>mode.</a:t>
            </a:r>
            <a:endParaRPr lang="en-US" dirty="0"/>
          </a:p>
        </p:txBody>
      </p:sp>
    </p:spTree>
    <p:extLst>
      <p:ext uri="{BB962C8B-B14F-4D97-AF65-F5344CB8AC3E}">
        <p14:creationId xmlns:p14="http://schemas.microsoft.com/office/powerpoint/2010/main" val="409706318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ounded Rectangle 20"/>
          <p:cNvSpPr/>
          <p:nvPr/>
        </p:nvSpPr>
        <p:spPr>
          <a:xfrm>
            <a:off x="3200400" y="1524000"/>
            <a:ext cx="5410200" cy="42672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195431" y="406117"/>
            <a:ext cx="475322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Nested Vectored Interrupt Controller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sp>
        <p:nvSpPr>
          <p:cNvPr id="7" name="Rectangle 6"/>
          <p:cNvSpPr/>
          <p:nvPr/>
        </p:nvSpPr>
        <p:spPr>
          <a:xfrm>
            <a:off x="6709144" y="1828800"/>
            <a:ext cx="1672856" cy="32766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dirty="0"/>
          </a:p>
        </p:txBody>
      </p:sp>
      <p:sp>
        <p:nvSpPr>
          <p:cNvPr id="8" name="TextBox 7"/>
          <p:cNvSpPr txBox="1"/>
          <p:nvPr/>
        </p:nvSpPr>
        <p:spPr>
          <a:xfrm>
            <a:off x="6934200" y="1905000"/>
            <a:ext cx="1371600" cy="307777"/>
          </a:xfrm>
          <a:prstGeom prst="rect">
            <a:avLst/>
          </a:prstGeom>
          <a:noFill/>
        </p:spPr>
        <p:txBody>
          <a:bodyPr wrap="square" rtlCol="0">
            <a:spAutoFit/>
          </a:bodyPr>
          <a:lstStyle/>
          <a:p>
            <a:r>
              <a:rPr lang="en-US" sz="1400" dirty="0" smtClean="0"/>
              <a:t>Processor Core</a:t>
            </a:r>
            <a:endParaRPr lang="en-US" sz="1400" dirty="0"/>
          </a:p>
        </p:txBody>
      </p:sp>
      <p:sp>
        <p:nvSpPr>
          <p:cNvPr id="13" name="TextBox 12"/>
          <p:cNvSpPr txBox="1"/>
          <p:nvPr/>
        </p:nvSpPr>
        <p:spPr>
          <a:xfrm>
            <a:off x="6629400" y="4038600"/>
            <a:ext cx="1143000" cy="523220"/>
          </a:xfrm>
          <a:prstGeom prst="rect">
            <a:avLst/>
          </a:prstGeom>
          <a:noFill/>
        </p:spPr>
        <p:txBody>
          <a:bodyPr wrap="square" rtlCol="0">
            <a:spAutoFit/>
          </a:bodyPr>
          <a:lstStyle/>
          <a:p>
            <a:pPr algn="ctr"/>
            <a:r>
              <a:rPr lang="en-US" sz="1400" dirty="0" smtClean="0"/>
              <a:t>System Exceptions</a:t>
            </a:r>
            <a:endParaRPr lang="en-US" sz="1400" dirty="0"/>
          </a:p>
        </p:txBody>
      </p:sp>
      <p:sp>
        <p:nvSpPr>
          <p:cNvPr id="9" name="Rectangle 8"/>
          <p:cNvSpPr/>
          <p:nvPr/>
        </p:nvSpPr>
        <p:spPr>
          <a:xfrm>
            <a:off x="3657600" y="2971800"/>
            <a:ext cx="1828800" cy="2133600"/>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dirty="0" smtClean="0"/>
              <a:t>NVIC</a:t>
            </a:r>
            <a:endParaRPr lang="en-US" dirty="0"/>
          </a:p>
        </p:txBody>
      </p:sp>
      <p:sp>
        <p:nvSpPr>
          <p:cNvPr id="11" name="Rectangle 10"/>
          <p:cNvSpPr/>
          <p:nvPr/>
        </p:nvSpPr>
        <p:spPr>
          <a:xfrm>
            <a:off x="3657600" y="1828800"/>
            <a:ext cx="1828800" cy="531912"/>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600" dirty="0" err="1" smtClean="0"/>
              <a:t>SysTick</a:t>
            </a:r>
            <a:r>
              <a:rPr lang="en-US" sz="1600" dirty="0" smtClean="0"/>
              <a:t> Timer</a:t>
            </a:r>
            <a:endParaRPr lang="en-US" sz="1600" dirty="0"/>
          </a:p>
        </p:txBody>
      </p:sp>
      <p:cxnSp>
        <p:nvCxnSpPr>
          <p:cNvPr id="16" name="Straight Arrow Connector 15"/>
          <p:cNvCxnSpPr/>
          <p:nvPr/>
        </p:nvCxnSpPr>
        <p:spPr>
          <a:xfrm flipH="1">
            <a:off x="5486400" y="4157990"/>
            <a:ext cx="12192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5486400" y="4310390"/>
            <a:ext cx="12192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flipH="1">
            <a:off x="5486400" y="4462790"/>
            <a:ext cx="1219200" cy="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17" name="Left-Right Arrow 16"/>
          <p:cNvSpPr/>
          <p:nvPr/>
        </p:nvSpPr>
        <p:spPr>
          <a:xfrm>
            <a:off x="5486400" y="3200400"/>
            <a:ext cx="1219200" cy="342900"/>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Arrow Connector 21"/>
          <p:cNvCxnSpPr/>
          <p:nvPr/>
        </p:nvCxnSpPr>
        <p:spPr>
          <a:xfrm>
            <a:off x="4038600" y="2357110"/>
            <a:ext cx="0" cy="614690"/>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4724400" y="5410200"/>
            <a:ext cx="2590800" cy="381000"/>
          </a:xfrm>
          <a:prstGeom prst="rect">
            <a:avLst/>
          </a:prstGeom>
          <a:noFill/>
        </p:spPr>
        <p:txBody>
          <a:bodyPr wrap="square" rtlCol="0">
            <a:spAutoFit/>
          </a:bodyPr>
          <a:lstStyle/>
          <a:p>
            <a:r>
              <a:rPr lang="en-US" dirty="0" smtClean="0"/>
              <a:t>Cortex M3/M4 Processor</a:t>
            </a:r>
            <a:endParaRPr lang="en-US" dirty="0"/>
          </a:p>
        </p:txBody>
      </p:sp>
      <p:sp>
        <p:nvSpPr>
          <p:cNvPr id="26" name="Rounded Rectangle 25"/>
          <p:cNvSpPr/>
          <p:nvPr/>
        </p:nvSpPr>
        <p:spPr>
          <a:xfrm>
            <a:off x="609600" y="2971800"/>
            <a:ext cx="1600200" cy="2133600"/>
          </a:xfrm>
          <a:prstGeom prst="roundRect">
            <a:avLst/>
          </a:prstGeom>
        </p:spPr>
        <p:style>
          <a:lnRef idx="3">
            <a:schemeClr val="lt1"/>
          </a:lnRef>
          <a:fillRef idx="1">
            <a:schemeClr val="accent4"/>
          </a:fillRef>
          <a:effectRef idx="1">
            <a:schemeClr val="accent4"/>
          </a:effectRef>
          <a:fontRef idx="minor">
            <a:schemeClr val="lt1"/>
          </a:fontRef>
        </p:style>
        <p:txBody>
          <a:bodyPr rtlCol="0" anchor="ctr"/>
          <a:lstStyle/>
          <a:p>
            <a:pPr algn="ctr"/>
            <a:r>
              <a:rPr lang="en-US" dirty="0" smtClean="0"/>
              <a:t>Peripherals</a:t>
            </a:r>
            <a:endParaRPr lang="en-US" dirty="0"/>
          </a:p>
        </p:txBody>
      </p:sp>
      <p:cxnSp>
        <p:nvCxnSpPr>
          <p:cNvPr id="28" name="Straight Arrow Connector 27"/>
          <p:cNvCxnSpPr/>
          <p:nvPr/>
        </p:nvCxnSpPr>
        <p:spPr>
          <a:xfrm>
            <a:off x="2209800" y="3371850"/>
            <a:ext cx="14478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2438400" y="4462790"/>
            <a:ext cx="0" cy="337810"/>
          </a:xfrm>
          <a:prstGeom prst="line">
            <a:avLst/>
          </a:prstGeom>
          <a:ln w="31750">
            <a:prstDash val="dash"/>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2438400" y="4419600"/>
            <a:ext cx="762000" cy="369332"/>
          </a:xfrm>
          <a:prstGeom prst="rect">
            <a:avLst/>
          </a:prstGeom>
          <a:noFill/>
        </p:spPr>
        <p:txBody>
          <a:bodyPr wrap="square" rtlCol="0">
            <a:spAutoFit/>
          </a:bodyPr>
          <a:lstStyle/>
          <a:p>
            <a:r>
              <a:rPr lang="en-US" b="1" i="1" dirty="0" err="1" smtClean="0">
                <a:solidFill>
                  <a:srgbClr val="FF0000"/>
                </a:solidFill>
              </a:rPr>
              <a:t>IRQn</a:t>
            </a:r>
            <a:endParaRPr lang="en-US" b="1" i="1" dirty="0">
              <a:solidFill>
                <a:srgbClr val="FF0000"/>
              </a:solidFill>
            </a:endParaRPr>
          </a:p>
        </p:txBody>
      </p:sp>
      <p:cxnSp>
        <p:nvCxnSpPr>
          <p:cNvPr id="38" name="Straight Arrow Connector 37"/>
          <p:cNvCxnSpPr/>
          <p:nvPr/>
        </p:nvCxnSpPr>
        <p:spPr>
          <a:xfrm>
            <a:off x="2209800" y="4191000"/>
            <a:ext cx="14478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a:off x="2209800" y="4343400"/>
            <a:ext cx="14478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a:off x="2209800" y="4876800"/>
            <a:ext cx="1447800" cy="0"/>
          </a:xfrm>
          <a:prstGeom prst="straightConnector1">
            <a:avLst/>
          </a:prstGeom>
          <a:ln w="31750">
            <a:tailEnd type="arrow"/>
          </a:ln>
        </p:spPr>
        <p:style>
          <a:lnRef idx="1">
            <a:schemeClr val="accent1"/>
          </a:lnRef>
          <a:fillRef idx="0">
            <a:schemeClr val="accent1"/>
          </a:fillRef>
          <a:effectRef idx="0">
            <a:schemeClr val="accent1"/>
          </a:effectRef>
          <a:fontRef idx="minor">
            <a:schemeClr val="tx1"/>
          </a:fontRef>
        </p:style>
      </p:cxnSp>
      <p:sp>
        <p:nvSpPr>
          <p:cNvPr id="41" name="TextBox 40"/>
          <p:cNvSpPr txBox="1"/>
          <p:nvPr/>
        </p:nvSpPr>
        <p:spPr>
          <a:xfrm>
            <a:off x="2362200" y="3059668"/>
            <a:ext cx="609600" cy="369332"/>
          </a:xfrm>
          <a:prstGeom prst="rect">
            <a:avLst/>
          </a:prstGeom>
          <a:noFill/>
        </p:spPr>
        <p:txBody>
          <a:bodyPr wrap="square" rtlCol="0">
            <a:spAutoFit/>
          </a:bodyPr>
          <a:lstStyle/>
          <a:p>
            <a:r>
              <a:rPr lang="en-US" b="1" i="1" dirty="0" smtClean="0">
                <a:solidFill>
                  <a:srgbClr val="FF0000"/>
                </a:solidFill>
              </a:rPr>
              <a:t>NMI</a:t>
            </a:r>
            <a:endParaRPr lang="en-US" b="1" i="1" dirty="0">
              <a:solidFill>
                <a:srgbClr val="FF0000"/>
              </a:solidFill>
            </a:endParaRPr>
          </a:p>
        </p:txBody>
      </p:sp>
    </p:spTree>
    <p:extLst>
      <p:ext uri="{BB962C8B-B14F-4D97-AF65-F5344CB8AC3E}">
        <p14:creationId xmlns:p14="http://schemas.microsoft.com/office/powerpoint/2010/main" val="37899690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937626" y="406117"/>
            <a:ext cx="326884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Interrupt Configuration</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sp>
        <p:nvSpPr>
          <p:cNvPr id="2" name="TextBox 1"/>
          <p:cNvSpPr txBox="1"/>
          <p:nvPr/>
        </p:nvSpPr>
        <p:spPr>
          <a:xfrm>
            <a:off x="228600" y="1447800"/>
            <a:ext cx="7467600" cy="2308324"/>
          </a:xfrm>
          <a:prstGeom prst="rect">
            <a:avLst/>
          </a:prstGeom>
          <a:noFill/>
        </p:spPr>
        <p:txBody>
          <a:bodyPr wrap="square" rtlCol="0">
            <a:spAutoFit/>
          </a:bodyPr>
          <a:lstStyle/>
          <a:p>
            <a:r>
              <a:rPr lang="en-US" dirty="0" smtClean="0"/>
              <a:t>Each interrupt has a set of basic configurations through NVIC which are:</a:t>
            </a:r>
          </a:p>
          <a:p>
            <a:endParaRPr lang="en-US" dirty="0" smtClean="0"/>
          </a:p>
          <a:p>
            <a:pPr marL="1257300" lvl="2" indent="-342900">
              <a:buFont typeface="+mj-lt"/>
              <a:buAutoNum type="arabicPeriod"/>
            </a:pPr>
            <a:r>
              <a:rPr lang="en-US" dirty="0" smtClean="0"/>
              <a:t>Enable </a:t>
            </a:r>
          </a:p>
          <a:p>
            <a:pPr marL="1257300" lvl="2" indent="-342900">
              <a:buFont typeface="+mj-lt"/>
              <a:buAutoNum type="arabicPeriod"/>
            </a:pPr>
            <a:r>
              <a:rPr lang="en-US" dirty="0" smtClean="0"/>
              <a:t>Clear</a:t>
            </a:r>
            <a:r>
              <a:rPr lang="en-US" dirty="0"/>
              <a:t> </a:t>
            </a:r>
            <a:r>
              <a:rPr lang="en-US" dirty="0" smtClean="0"/>
              <a:t>Enable</a:t>
            </a:r>
            <a:r>
              <a:rPr lang="en-US" dirty="0"/>
              <a:t> </a:t>
            </a:r>
          </a:p>
          <a:p>
            <a:pPr marL="1257300" lvl="2" indent="-342900">
              <a:buFont typeface="+mj-lt"/>
              <a:buAutoNum type="arabicPeriod"/>
            </a:pPr>
            <a:r>
              <a:rPr lang="en-US" dirty="0" smtClean="0"/>
              <a:t>Set Pending</a:t>
            </a:r>
            <a:r>
              <a:rPr lang="en-US" dirty="0"/>
              <a:t> </a:t>
            </a:r>
            <a:endParaRPr lang="en-US" dirty="0" smtClean="0"/>
          </a:p>
          <a:p>
            <a:pPr marL="1257300" lvl="2" indent="-342900">
              <a:buFont typeface="+mj-lt"/>
              <a:buAutoNum type="arabicPeriod"/>
            </a:pPr>
            <a:r>
              <a:rPr lang="en-US" dirty="0" smtClean="0"/>
              <a:t>Clear Pending</a:t>
            </a:r>
            <a:r>
              <a:rPr lang="en-US" dirty="0"/>
              <a:t> </a:t>
            </a:r>
            <a:endParaRPr lang="en-US" dirty="0" smtClean="0"/>
          </a:p>
          <a:p>
            <a:pPr marL="1257300" lvl="2" indent="-342900">
              <a:buFont typeface="+mj-lt"/>
              <a:buAutoNum type="arabicPeriod"/>
            </a:pPr>
            <a:r>
              <a:rPr lang="en-US" dirty="0"/>
              <a:t>Active </a:t>
            </a:r>
            <a:r>
              <a:rPr lang="en-US" dirty="0" smtClean="0"/>
              <a:t>status</a:t>
            </a:r>
            <a:endParaRPr lang="en-US" dirty="0"/>
          </a:p>
          <a:p>
            <a:pPr marL="1257300" lvl="2" indent="-342900">
              <a:buFont typeface="+mj-lt"/>
              <a:buAutoNum type="arabicPeriod"/>
            </a:pPr>
            <a:r>
              <a:rPr lang="en-US" dirty="0"/>
              <a:t>Priority </a:t>
            </a:r>
            <a:r>
              <a:rPr lang="en-US" dirty="0" smtClean="0"/>
              <a:t>level</a:t>
            </a:r>
            <a:r>
              <a:rPr lang="en-US" dirty="0"/>
              <a:t> </a:t>
            </a:r>
          </a:p>
        </p:txBody>
      </p:sp>
      <p:graphicFrame>
        <p:nvGraphicFramePr>
          <p:cNvPr id="3" name="Table 2"/>
          <p:cNvGraphicFramePr>
            <a:graphicFrameLocks noGrp="1"/>
          </p:cNvGraphicFramePr>
          <p:nvPr>
            <p:extLst>
              <p:ext uri="{D42A27DB-BD31-4B8C-83A1-F6EECF244321}">
                <p14:modId xmlns:p14="http://schemas.microsoft.com/office/powerpoint/2010/main" val="4205480742"/>
              </p:ext>
            </p:extLst>
          </p:nvPr>
        </p:nvGraphicFramePr>
        <p:xfrm>
          <a:off x="7162800" y="2133600"/>
          <a:ext cx="1413626" cy="3840480"/>
        </p:xfrm>
        <a:graphic>
          <a:graphicData uri="http://schemas.openxmlformats.org/drawingml/2006/table">
            <a:tbl>
              <a:tblPr firstRow="1" bandRow="1">
                <a:tableStyleId>{616DA210-FB5B-4158-B5E0-FEB733F419BA}</a:tableStyleId>
              </a:tblPr>
              <a:tblGrid>
                <a:gridCol w="1413626"/>
              </a:tblGrid>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PRI0`</a:t>
                      </a:r>
                      <a:endParaRPr lang="en-US" sz="900" b="1" dirty="0" smtClean="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IABR0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CLRPEND0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SETPEND0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ICER0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52395">
                <a:tc>
                  <a:txBody>
                    <a:bodyPr/>
                    <a:lstStyle/>
                    <a:p>
                      <a:pPr algn="ctr"/>
                      <a:r>
                        <a:rPr lang="en-US" sz="900" b="1" dirty="0" smtClean="0"/>
                        <a:t>.</a:t>
                      </a:r>
                    </a:p>
                    <a:p>
                      <a:pPr algn="ctr"/>
                      <a:r>
                        <a:rPr lang="en-US" sz="900" b="1" dirty="0" smtClean="0"/>
                        <a:t>.</a:t>
                      </a:r>
                    </a:p>
                    <a:p>
                      <a:pPr algn="ctr"/>
                      <a:r>
                        <a:rPr lang="en-US" sz="900" b="1" dirty="0" smtClean="0"/>
                        <a:t>.</a:t>
                      </a:r>
                    </a:p>
                    <a:p>
                      <a:pPr algn="ctr"/>
                      <a:r>
                        <a:rPr lang="en-US" sz="900" b="1" dirty="0" smtClean="0"/>
                        <a:t>ISER0</a:t>
                      </a:r>
                      <a:endParaRPr lang="en-US" sz="9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4" name="TextBox 3"/>
          <p:cNvSpPr txBox="1"/>
          <p:nvPr/>
        </p:nvSpPr>
        <p:spPr>
          <a:xfrm>
            <a:off x="6096000" y="5715000"/>
            <a:ext cx="1143000" cy="307777"/>
          </a:xfrm>
          <a:prstGeom prst="rect">
            <a:avLst/>
          </a:prstGeom>
          <a:noFill/>
        </p:spPr>
        <p:txBody>
          <a:bodyPr wrap="square" rtlCol="0">
            <a:spAutoFit/>
          </a:bodyPr>
          <a:lstStyle/>
          <a:p>
            <a:r>
              <a:rPr lang="en-US" sz="1400" dirty="0"/>
              <a:t>0xE000E100</a:t>
            </a:r>
          </a:p>
        </p:txBody>
      </p:sp>
      <p:sp>
        <p:nvSpPr>
          <p:cNvPr id="11" name="TextBox 10"/>
          <p:cNvSpPr txBox="1"/>
          <p:nvPr/>
        </p:nvSpPr>
        <p:spPr>
          <a:xfrm>
            <a:off x="6096000" y="5105400"/>
            <a:ext cx="1143000" cy="307777"/>
          </a:xfrm>
          <a:prstGeom prst="rect">
            <a:avLst/>
          </a:prstGeom>
          <a:noFill/>
        </p:spPr>
        <p:txBody>
          <a:bodyPr wrap="square" rtlCol="0">
            <a:spAutoFit/>
          </a:bodyPr>
          <a:lstStyle/>
          <a:p>
            <a:r>
              <a:rPr lang="en-US" sz="1400" dirty="0" smtClean="0"/>
              <a:t>0xE000E180</a:t>
            </a:r>
            <a:endParaRPr lang="en-US" sz="1400" dirty="0"/>
          </a:p>
        </p:txBody>
      </p:sp>
      <p:sp>
        <p:nvSpPr>
          <p:cNvPr id="13" name="TextBox 12"/>
          <p:cNvSpPr txBox="1"/>
          <p:nvPr/>
        </p:nvSpPr>
        <p:spPr>
          <a:xfrm>
            <a:off x="6096000" y="4419600"/>
            <a:ext cx="1143000" cy="307777"/>
          </a:xfrm>
          <a:prstGeom prst="rect">
            <a:avLst/>
          </a:prstGeom>
          <a:noFill/>
        </p:spPr>
        <p:txBody>
          <a:bodyPr wrap="square" rtlCol="0">
            <a:spAutoFit/>
          </a:bodyPr>
          <a:lstStyle/>
          <a:p>
            <a:r>
              <a:rPr lang="en-US" sz="1400" dirty="0" smtClean="0"/>
              <a:t>0xE000E200</a:t>
            </a:r>
            <a:endParaRPr lang="en-US" sz="1400" dirty="0"/>
          </a:p>
        </p:txBody>
      </p:sp>
      <p:sp>
        <p:nvSpPr>
          <p:cNvPr id="15" name="TextBox 14"/>
          <p:cNvSpPr txBox="1"/>
          <p:nvPr/>
        </p:nvSpPr>
        <p:spPr>
          <a:xfrm>
            <a:off x="6096000" y="3807023"/>
            <a:ext cx="1143000" cy="307777"/>
          </a:xfrm>
          <a:prstGeom prst="rect">
            <a:avLst/>
          </a:prstGeom>
          <a:noFill/>
        </p:spPr>
        <p:txBody>
          <a:bodyPr wrap="square" rtlCol="0">
            <a:spAutoFit/>
          </a:bodyPr>
          <a:lstStyle/>
          <a:p>
            <a:r>
              <a:rPr lang="en-US" sz="1400" dirty="0" smtClean="0"/>
              <a:t>0xE000E280</a:t>
            </a:r>
            <a:endParaRPr lang="en-US" sz="1400" dirty="0"/>
          </a:p>
        </p:txBody>
      </p:sp>
      <p:sp>
        <p:nvSpPr>
          <p:cNvPr id="16" name="TextBox 15"/>
          <p:cNvSpPr txBox="1"/>
          <p:nvPr/>
        </p:nvSpPr>
        <p:spPr>
          <a:xfrm>
            <a:off x="6096000" y="3124200"/>
            <a:ext cx="1143000" cy="307777"/>
          </a:xfrm>
          <a:prstGeom prst="rect">
            <a:avLst/>
          </a:prstGeom>
          <a:noFill/>
        </p:spPr>
        <p:txBody>
          <a:bodyPr wrap="square" rtlCol="0">
            <a:spAutoFit/>
          </a:bodyPr>
          <a:lstStyle/>
          <a:p>
            <a:r>
              <a:rPr lang="en-US" sz="1400" dirty="0" smtClean="0"/>
              <a:t>0xE000E300</a:t>
            </a:r>
            <a:endParaRPr lang="en-US" sz="1400" dirty="0"/>
          </a:p>
        </p:txBody>
      </p:sp>
      <p:sp>
        <p:nvSpPr>
          <p:cNvPr id="17" name="TextBox 16"/>
          <p:cNvSpPr txBox="1"/>
          <p:nvPr/>
        </p:nvSpPr>
        <p:spPr>
          <a:xfrm>
            <a:off x="6096000" y="2511623"/>
            <a:ext cx="1143000" cy="307777"/>
          </a:xfrm>
          <a:prstGeom prst="rect">
            <a:avLst/>
          </a:prstGeom>
          <a:noFill/>
        </p:spPr>
        <p:txBody>
          <a:bodyPr wrap="square" rtlCol="0">
            <a:spAutoFit/>
          </a:bodyPr>
          <a:lstStyle/>
          <a:p>
            <a:r>
              <a:rPr lang="en-US" sz="1400" dirty="0" smtClean="0"/>
              <a:t>0xE000E400</a:t>
            </a:r>
            <a:endParaRPr lang="en-US" sz="1400" dirty="0"/>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851866" y="406117"/>
            <a:ext cx="344036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Enable Interrupt Register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996" y="1318671"/>
            <a:ext cx="7879404" cy="3132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457200" y="4572000"/>
            <a:ext cx="8077200" cy="1477328"/>
          </a:xfrm>
          <a:prstGeom prst="rect">
            <a:avLst/>
          </a:prstGeom>
          <a:noFill/>
        </p:spPr>
        <p:txBody>
          <a:bodyPr wrap="square" rtlCol="0">
            <a:spAutoFit/>
          </a:bodyPr>
          <a:lstStyle/>
          <a:p>
            <a:r>
              <a:rPr lang="en-US" b="1" i="1" u="sng" dirty="0" smtClean="0">
                <a:solidFill>
                  <a:srgbClr val="FF0000"/>
                </a:solidFill>
              </a:rPr>
              <a:t>Note</a:t>
            </a:r>
          </a:p>
          <a:p>
            <a:pPr algn="just"/>
            <a:r>
              <a:rPr lang="en-US" dirty="0"/>
              <a:t>If a pending interrupt is enabled, the NVIC activates the interrupt based on </a:t>
            </a:r>
            <a:r>
              <a:rPr lang="en-US" dirty="0" smtClean="0"/>
              <a:t>its priority</a:t>
            </a:r>
            <a:r>
              <a:rPr lang="en-US" dirty="0"/>
              <a:t>. If an </a:t>
            </a:r>
            <a:r>
              <a:rPr lang="en-US" dirty="0" smtClean="0"/>
              <a:t>interrupt </a:t>
            </a:r>
            <a:r>
              <a:rPr lang="en-US" dirty="0"/>
              <a:t>is not enabled, asserting its interrupt signal changes the interrupt state to pending, </a:t>
            </a:r>
            <a:r>
              <a:rPr lang="en-US" dirty="0" smtClean="0"/>
              <a:t>but </a:t>
            </a:r>
            <a:r>
              <a:rPr lang="en-US" dirty="0"/>
              <a:t>the NVIC never activates the interrupt, regardless of its priority.</a:t>
            </a:r>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615420" y="406117"/>
            <a:ext cx="3913252" cy="461665"/>
          </a:xfrm>
          <a:prstGeom prst="rect">
            <a:avLst/>
          </a:prstGeom>
          <a:noFill/>
        </p:spPr>
        <p:txBody>
          <a:bodyPr wrap="none" lIns="91440" tIns="45720" rIns="91440" bIns="45720">
            <a:spAutoFit/>
          </a:bodyPr>
          <a:lstStyle/>
          <a:p>
            <a:pPr algn="ctr"/>
            <a:r>
              <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Enable </a:t>
            </a: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Clear Enable Register</a:t>
            </a:r>
            <a:endPar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46" y="1600200"/>
            <a:ext cx="8077200" cy="31306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 y="4572000"/>
            <a:ext cx="8077200" cy="923330"/>
          </a:xfrm>
          <a:prstGeom prst="rect">
            <a:avLst/>
          </a:prstGeom>
          <a:noFill/>
        </p:spPr>
        <p:txBody>
          <a:bodyPr wrap="square" rtlCol="0">
            <a:spAutoFit/>
          </a:bodyPr>
          <a:lstStyle/>
          <a:p>
            <a:r>
              <a:rPr lang="en-US" b="1" i="1" u="sng" dirty="0" smtClean="0">
                <a:solidFill>
                  <a:srgbClr val="FF0000"/>
                </a:solidFill>
              </a:rPr>
              <a:t>Note</a:t>
            </a:r>
          </a:p>
          <a:p>
            <a:pPr algn="just"/>
            <a:r>
              <a:rPr lang="en-US" dirty="0"/>
              <a:t>Writing 1 to an ICPR bit does not affect the active state of the corresponding </a:t>
            </a:r>
            <a:r>
              <a:rPr lang="en-US" dirty="0" smtClean="0"/>
              <a:t>interrupt.</a:t>
            </a:r>
            <a:endParaRPr lang="en-US" dirty="0"/>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049837" y="406117"/>
            <a:ext cx="3044423"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Set Pending Register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568" y="1371600"/>
            <a:ext cx="8188960" cy="3219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 y="4572000"/>
            <a:ext cx="8077200" cy="1477328"/>
          </a:xfrm>
          <a:prstGeom prst="rect">
            <a:avLst/>
          </a:prstGeom>
          <a:noFill/>
        </p:spPr>
        <p:txBody>
          <a:bodyPr wrap="square" rtlCol="0">
            <a:spAutoFit/>
          </a:bodyPr>
          <a:lstStyle/>
          <a:p>
            <a:r>
              <a:rPr lang="en-US" b="1" i="1" u="sng" dirty="0" smtClean="0">
                <a:solidFill>
                  <a:srgbClr val="FF0000"/>
                </a:solidFill>
              </a:rPr>
              <a:t>Note</a:t>
            </a:r>
          </a:p>
          <a:p>
            <a:pPr algn="just"/>
            <a:r>
              <a:rPr lang="en-US" dirty="0"/>
              <a:t>Writing 1 to the ISPR bit corresponding to an interrupt that is pending:</a:t>
            </a:r>
          </a:p>
          <a:p>
            <a:pPr lvl="1" algn="just"/>
            <a:r>
              <a:rPr lang="en-US" dirty="0" smtClean="0"/>
              <a:t>– has no </a:t>
            </a:r>
            <a:r>
              <a:rPr lang="en-US" dirty="0"/>
              <a:t>effect.</a:t>
            </a:r>
          </a:p>
          <a:p>
            <a:pPr algn="just"/>
            <a:r>
              <a:rPr lang="en-US" dirty="0"/>
              <a:t>Writing 1 to the ISPR bit corresponding to a disabled interrupt:</a:t>
            </a:r>
          </a:p>
          <a:p>
            <a:pPr lvl="1" algn="just"/>
            <a:r>
              <a:rPr lang="en-US" dirty="0"/>
              <a:t>– </a:t>
            </a:r>
            <a:r>
              <a:rPr lang="en-US" dirty="0" smtClean="0"/>
              <a:t>sets the </a:t>
            </a:r>
            <a:r>
              <a:rPr lang="en-US" dirty="0"/>
              <a:t>state of that interrupt to pending.</a:t>
            </a:r>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978500" y="406117"/>
            <a:ext cx="3187091"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Clear Pending Register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470" y="1447800"/>
            <a:ext cx="8139150" cy="3197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 y="4572000"/>
            <a:ext cx="8077200" cy="923330"/>
          </a:xfrm>
          <a:prstGeom prst="rect">
            <a:avLst/>
          </a:prstGeom>
          <a:noFill/>
        </p:spPr>
        <p:txBody>
          <a:bodyPr wrap="square" rtlCol="0">
            <a:spAutoFit/>
          </a:bodyPr>
          <a:lstStyle/>
          <a:p>
            <a:r>
              <a:rPr lang="en-US" b="1" i="1" u="sng" dirty="0" smtClean="0">
                <a:solidFill>
                  <a:srgbClr val="FF0000"/>
                </a:solidFill>
              </a:rPr>
              <a:t>Note</a:t>
            </a:r>
          </a:p>
          <a:p>
            <a:pPr algn="just"/>
            <a:r>
              <a:rPr lang="en-US" dirty="0"/>
              <a:t>A bit reads as 1 if the status of the corresponding interrupt is active or active and pending.</a:t>
            </a:r>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647486" y="406117"/>
            <a:ext cx="3849132"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Interrupt Active Bit Register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753" y="1600200"/>
            <a:ext cx="8188598" cy="2333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457200" y="4572000"/>
            <a:ext cx="8077200" cy="923330"/>
          </a:xfrm>
          <a:prstGeom prst="rect">
            <a:avLst/>
          </a:prstGeom>
          <a:noFill/>
        </p:spPr>
        <p:txBody>
          <a:bodyPr wrap="square" rtlCol="0">
            <a:spAutoFit/>
          </a:bodyPr>
          <a:lstStyle/>
          <a:p>
            <a:r>
              <a:rPr lang="en-US" b="1" i="1" u="sng" dirty="0" smtClean="0">
                <a:solidFill>
                  <a:srgbClr val="FF0000"/>
                </a:solidFill>
              </a:rPr>
              <a:t>Note</a:t>
            </a:r>
          </a:p>
          <a:p>
            <a:pPr algn="just"/>
            <a:r>
              <a:rPr lang="en-US" dirty="0"/>
              <a:t>A bit reads as 1 if the status of the corresponding interrupt is active or active and pending.</a:t>
            </a:r>
          </a:p>
        </p:txBody>
      </p:sp>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359216" y="406117"/>
            <a:ext cx="2425665"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Interrupt Priority</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sp>
        <p:nvSpPr>
          <p:cNvPr id="2" name="TextBox 1"/>
          <p:cNvSpPr txBox="1"/>
          <p:nvPr/>
        </p:nvSpPr>
        <p:spPr>
          <a:xfrm>
            <a:off x="533400" y="1371600"/>
            <a:ext cx="8077200" cy="369332"/>
          </a:xfrm>
          <a:prstGeom prst="rect">
            <a:avLst/>
          </a:prstGeom>
          <a:noFill/>
        </p:spPr>
        <p:txBody>
          <a:bodyPr wrap="square" rtlCol="0">
            <a:spAutoFit/>
          </a:bodyPr>
          <a:lstStyle/>
          <a:p>
            <a:r>
              <a:rPr lang="en-US" dirty="0" smtClean="0"/>
              <a:t>1- Define Number of </a:t>
            </a:r>
            <a:r>
              <a:rPr lang="en-US" b="1" i="1" dirty="0" smtClean="0">
                <a:solidFill>
                  <a:srgbClr val="FF0000"/>
                </a:solidFill>
              </a:rPr>
              <a:t>Groups</a:t>
            </a:r>
            <a:r>
              <a:rPr lang="en-US" dirty="0" smtClean="0">
                <a:solidFill>
                  <a:srgbClr val="FF0000"/>
                </a:solidFill>
              </a:rPr>
              <a:t> </a:t>
            </a:r>
            <a:r>
              <a:rPr lang="en-US" dirty="0" smtClean="0"/>
              <a:t>and Number of </a:t>
            </a:r>
            <a:r>
              <a:rPr lang="en-US" b="1" i="1" dirty="0" smtClean="0">
                <a:solidFill>
                  <a:srgbClr val="FF0000"/>
                </a:solidFill>
              </a:rPr>
              <a:t>Sub Priorities</a:t>
            </a:r>
            <a:endParaRPr lang="en-US" b="1" i="1" dirty="0">
              <a:solidFill>
                <a:srgbClr val="FF0000"/>
              </a:solidFill>
            </a:endParaRPr>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905000"/>
            <a:ext cx="6818109" cy="238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1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49768" y="4419600"/>
            <a:ext cx="5403952" cy="1894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359211" y="406117"/>
            <a:ext cx="2425664" cy="461665"/>
          </a:xfrm>
          <a:prstGeom prst="rect">
            <a:avLst/>
          </a:prstGeom>
          <a:noFill/>
        </p:spPr>
        <p:txBody>
          <a:bodyPr wrap="none" lIns="91440" tIns="45720" rIns="91440" bIns="45720">
            <a:spAutoFit/>
          </a:bodyPr>
          <a:lstStyle/>
          <a:p>
            <a:pPr algn="ctr"/>
            <a:r>
              <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Interrupt Priority</a:t>
            </a:r>
          </a:p>
        </p:txBody>
      </p:sp>
      <p:sp>
        <p:nvSpPr>
          <p:cNvPr id="8" name="TextBox 7"/>
          <p:cNvSpPr txBox="1"/>
          <p:nvPr/>
        </p:nvSpPr>
        <p:spPr>
          <a:xfrm>
            <a:off x="533400" y="1371600"/>
            <a:ext cx="8077200" cy="369332"/>
          </a:xfrm>
          <a:prstGeom prst="rect">
            <a:avLst/>
          </a:prstGeom>
          <a:noFill/>
        </p:spPr>
        <p:txBody>
          <a:bodyPr wrap="square" rtlCol="0">
            <a:spAutoFit/>
          </a:bodyPr>
          <a:lstStyle/>
          <a:p>
            <a:r>
              <a:rPr lang="en-US" dirty="0" smtClean="0"/>
              <a:t>1- Assign a priority for each interrupt</a:t>
            </a:r>
            <a:endParaRPr lang="en-US" b="1" i="1" dirty="0">
              <a:solidFill>
                <a:srgbClr val="FF0000"/>
              </a:solidFill>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250" y="2133600"/>
            <a:ext cx="8134350" cy="3543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723626" y="406117"/>
            <a:ext cx="3696846"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Stacking and </a:t>
            </a:r>
            <a:r>
              <a:rPr lang="en-US" sz="2400" b="1" dirty="0" err="1"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Unstacking</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1349375"/>
            <a:ext cx="4419600" cy="4235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353600" y="406117"/>
            <a:ext cx="2436886" cy="461665"/>
          </a:xfrm>
          <a:prstGeom prst="rect">
            <a:avLst/>
          </a:prstGeom>
          <a:noFill/>
        </p:spPr>
        <p:txBody>
          <a:bodyPr wrap="none" lIns="91440" tIns="45720" rIns="91440" bIns="45720">
            <a:spAutoFit/>
          </a:bodyPr>
          <a:lstStyle/>
          <a:p>
            <a:pPr algn="ctr"/>
            <a:r>
              <a:rPr lang="en-US" sz="24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TAIL-CHAINING</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33505" y="1752600"/>
            <a:ext cx="7077075" cy="3221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3267840" y="406117"/>
            <a:ext cx="2608407"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LATE ARRIVALS</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8900" y="1639792"/>
            <a:ext cx="7405687" cy="36546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 y="152400"/>
            <a:ext cx="1524000" cy="941859"/>
          </a:xfrm>
          <a:prstGeom prst="rect">
            <a:avLst/>
          </a:prstGeom>
        </p:spPr>
      </p:pic>
      <p:sp>
        <p:nvSpPr>
          <p:cNvPr id="14" name="Rectangle 13"/>
          <p:cNvSpPr/>
          <p:nvPr/>
        </p:nvSpPr>
        <p:spPr>
          <a:xfrm>
            <a:off x="2645880" y="406117"/>
            <a:ext cx="3852338" cy="461665"/>
          </a:xfrm>
          <a:prstGeom prst="rect">
            <a:avLst/>
          </a:prstGeom>
          <a:noFill/>
        </p:spPr>
        <p:txBody>
          <a:bodyPr wrap="none" lIns="91440" tIns="45720" rIns="91440" bIns="45720">
            <a:spAutoFit/>
          </a:bodyPr>
          <a:lstStyle/>
          <a:p>
            <a:pPr algn="ctr"/>
            <a:r>
              <a:rPr lang="en-US" sz="2400" b="1"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latin typeface="Bradley Hand ITC" pitchFamily="66" charset="0"/>
              </a:rPr>
              <a:t>External Interrupt Controller</a:t>
            </a:r>
            <a:endParaRPr lang="en-US" sz="2400" b="1" cap="none" spc="0" dirty="0" smtClean="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latin typeface="Bradley Hand ITC" pitchFamily="66" charset="0"/>
            </a:endParaRP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2450" y="1319212"/>
            <a:ext cx="8039100" cy="475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398977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85800" y="6553200"/>
            <a:ext cx="8153400" cy="0"/>
          </a:xfrm>
          <a:prstGeom prst="line">
            <a:avLst/>
          </a:prstGeom>
        </p:spPr>
        <p:style>
          <a:lnRef idx="3">
            <a:schemeClr val="accent3"/>
          </a:lnRef>
          <a:fillRef idx="0">
            <a:schemeClr val="accent3"/>
          </a:fillRef>
          <a:effectRef idx="2">
            <a:schemeClr val="accent3"/>
          </a:effectRef>
          <a:fontRef idx="minor">
            <a:schemeClr val="tx1"/>
          </a:fontRef>
        </p:style>
      </p:cxnSp>
      <p:cxnSp>
        <p:nvCxnSpPr>
          <p:cNvPr id="6" name="Straight Connector 5"/>
          <p:cNvCxnSpPr/>
          <p:nvPr/>
        </p:nvCxnSpPr>
        <p:spPr>
          <a:xfrm>
            <a:off x="304800" y="6705600"/>
            <a:ext cx="8693888" cy="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0" name="Straight Connector 9"/>
          <p:cNvCxnSpPr/>
          <p:nvPr/>
        </p:nvCxnSpPr>
        <p:spPr>
          <a:xfrm flipV="1">
            <a:off x="8998688" y="228600"/>
            <a:ext cx="0" cy="6477000"/>
          </a:xfrm>
          <a:prstGeom prst="line">
            <a:avLst/>
          </a:prstGeom>
          <a:ln w="85725"/>
        </p:spPr>
        <p:style>
          <a:lnRef idx="3">
            <a:schemeClr val="accent3"/>
          </a:lnRef>
          <a:fillRef idx="0">
            <a:schemeClr val="accent3"/>
          </a:fillRef>
          <a:effectRef idx="2">
            <a:schemeClr val="accent3"/>
          </a:effectRef>
          <a:fontRef idx="minor">
            <a:schemeClr val="tx1"/>
          </a:fontRef>
        </p:style>
      </p:cxnSp>
      <p:cxnSp>
        <p:nvCxnSpPr>
          <p:cNvPr id="12" name="Straight Connector 11"/>
          <p:cNvCxnSpPr/>
          <p:nvPr/>
        </p:nvCxnSpPr>
        <p:spPr>
          <a:xfrm flipV="1">
            <a:off x="8839200" y="838200"/>
            <a:ext cx="0" cy="5715000"/>
          </a:xfrm>
          <a:prstGeom prst="line">
            <a:avLst/>
          </a:prstGeom>
        </p:spPr>
        <p:style>
          <a:lnRef idx="3">
            <a:schemeClr val="accent3"/>
          </a:lnRef>
          <a:fillRef idx="0">
            <a:schemeClr val="accent3"/>
          </a:fillRef>
          <a:effectRef idx="2">
            <a:schemeClr val="accent3"/>
          </a:effectRef>
          <a:fontRef idx="minor">
            <a:schemeClr val="tx1"/>
          </a:fontRef>
        </p:style>
      </p:cxnSp>
      <p:pic>
        <p:nvPicPr>
          <p:cNvPr id="20" name="Picture 1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381000"/>
            <a:ext cx="4515255" cy="2790508"/>
          </a:xfrm>
          <a:prstGeom prst="rect">
            <a:avLst/>
          </a:prstGeom>
        </p:spPr>
      </p:pic>
      <p:sp>
        <p:nvSpPr>
          <p:cNvPr id="4" name="TextBox 3"/>
          <p:cNvSpPr txBox="1"/>
          <p:nvPr/>
        </p:nvSpPr>
        <p:spPr>
          <a:xfrm>
            <a:off x="1219200" y="5943600"/>
            <a:ext cx="6781800" cy="461665"/>
          </a:xfrm>
          <a:prstGeom prst="rect">
            <a:avLst/>
          </a:prstGeom>
          <a:noFill/>
        </p:spPr>
        <p:txBody>
          <a:bodyPr wrap="square" rtlCol="0">
            <a:spAutoFit/>
          </a:bodyPr>
          <a:lstStyle/>
          <a:p>
            <a:pPr algn="ctr"/>
            <a:r>
              <a:rPr lang="en-US" sz="1200" b="1" i="1" dirty="0" smtClean="0"/>
              <a:t>This material is developed by </a:t>
            </a:r>
            <a:r>
              <a:rPr lang="en-US" sz="1200" b="1" i="1" dirty="0" err="1" smtClean="0"/>
              <a:t>IMTSchool</a:t>
            </a:r>
            <a:r>
              <a:rPr lang="en-US" sz="1200" b="1" i="1" dirty="0" smtClean="0"/>
              <a:t> for educational use only</a:t>
            </a:r>
          </a:p>
          <a:p>
            <a:pPr algn="ctr"/>
            <a:r>
              <a:rPr lang="en-US" sz="1200" b="1" i="1" dirty="0" smtClean="0"/>
              <a:t>All copyrights are reserved</a:t>
            </a:r>
            <a:endParaRPr lang="en-US" sz="1200" b="1" i="1"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394384" y="3646251"/>
            <a:ext cx="653616" cy="653616"/>
          </a:xfrm>
          <a:prstGeom prst="rect">
            <a:avLst/>
          </a:prstGeom>
        </p:spPr>
      </p:pic>
      <p:pic>
        <p:nvPicPr>
          <p:cNvPr id="3" name="Picture 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390992" y="4495800"/>
            <a:ext cx="660400" cy="660400"/>
          </a:xfrm>
          <a:prstGeom prst="rect">
            <a:avLst/>
          </a:prstGeom>
        </p:spPr>
      </p:pic>
      <p:sp>
        <p:nvSpPr>
          <p:cNvPr id="7" name="TextBox 6"/>
          <p:cNvSpPr txBox="1"/>
          <p:nvPr/>
        </p:nvSpPr>
        <p:spPr>
          <a:xfrm>
            <a:off x="3200400" y="3733800"/>
            <a:ext cx="3733800" cy="369332"/>
          </a:xfrm>
          <a:prstGeom prst="rect">
            <a:avLst/>
          </a:prstGeom>
          <a:noFill/>
        </p:spPr>
        <p:txBody>
          <a:bodyPr wrap="square" rtlCol="0">
            <a:spAutoFit/>
          </a:bodyPr>
          <a:lstStyle/>
          <a:p>
            <a:r>
              <a:rPr lang="en-US" b="1" dirty="0" smtClean="0"/>
              <a:t>www.imtschool.com</a:t>
            </a:r>
            <a:endParaRPr lang="en-US" b="1" dirty="0"/>
          </a:p>
        </p:txBody>
      </p:sp>
      <p:sp>
        <p:nvSpPr>
          <p:cNvPr id="8" name="TextBox 7"/>
          <p:cNvSpPr txBox="1"/>
          <p:nvPr/>
        </p:nvSpPr>
        <p:spPr>
          <a:xfrm>
            <a:off x="3184850" y="4659868"/>
            <a:ext cx="4358950" cy="369332"/>
          </a:xfrm>
          <a:prstGeom prst="rect">
            <a:avLst/>
          </a:prstGeom>
          <a:noFill/>
        </p:spPr>
        <p:txBody>
          <a:bodyPr wrap="none" rtlCol="0">
            <a:spAutoFit/>
          </a:bodyPr>
          <a:lstStyle/>
          <a:p>
            <a:r>
              <a:rPr lang="en-US" b="1" dirty="0" smtClean="0"/>
              <a:t>ww.facebook.com/</a:t>
            </a:r>
            <a:r>
              <a:rPr lang="en-US" b="1" dirty="0" err="1" smtClean="0"/>
              <a:t>imaketechnologyschool</a:t>
            </a:r>
            <a:r>
              <a:rPr lang="en-US" b="1" dirty="0" smtClean="0"/>
              <a:t>/</a:t>
            </a:r>
            <a:endParaRPr lang="en-US" b="1" dirty="0"/>
          </a:p>
        </p:txBody>
      </p:sp>
    </p:spTree>
    <p:extLst>
      <p:ext uri="{BB962C8B-B14F-4D97-AF65-F5344CB8AC3E}">
        <p14:creationId xmlns:p14="http://schemas.microsoft.com/office/powerpoint/2010/main" val="1291036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1585</TotalTime>
  <Words>387</Words>
  <Application>Microsoft Office PowerPoint</Application>
  <PresentationFormat>On-screen Show (4:3)</PresentationFormat>
  <Paragraphs>102</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dc:creator>
  <cp:lastModifiedBy>Ahmed</cp:lastModifiedBy>
  <cp:revision>119</cp:revision>
  <dcterms:created xsi:type="dcterms:W3CDTF">2017-07-05T23:12:25Z</dcterms:created>
  <dcterms:modified xsi:type="dcterms:W3CDTF">2018-05-11T16:34:28Z</dcterms:modified>
</cp:coreProperties>
</file>