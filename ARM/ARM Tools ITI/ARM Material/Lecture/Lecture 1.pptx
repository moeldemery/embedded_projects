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5" r:id="rId2"/>
    <p:sldId id="369" r:id="rId3"/>
    <p:sldId id="380" r:id="rId4"/>
    <p:sldId id="381" r:id="rId5"/>
    <p:sldId id="382" r:id="rId6"/>
    <p:sldId id="383" r:id="rId7"/>
    <p:sldId id="384" r:id="rId8"/>
    <p:sldId id="403" r:id="rId9"/>
    <p:sldId id="385" r:id="rId10"/>
    <p:sldId id="386" r:id="rId11"/>
    <p:sldId id="387" r:id="rId12"/>
    <p:sldId id="388" r:id="rId13"/>
    <p:sldId id="389" r:id="rId14"/>
    <p:sldId id="390" r:id="rId15"/>
    <p:sldId id="391" r:id="rId16"/>
    <p:sldId id="392" r:id="rId17"/>
    <p:sldId id="405" r:id="rId18"/>
    <p:sldId id="404" r:id="rId19"/>
    <p:sldId id="395" r:id="rId20"/>
    <p:sldId id="396" r:id="rId21"/>
    <p:sldId id="296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84" y="-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6918AE9-8D0C-498F-9F49-E0D4939236DB}" type="doc">
      <dgm:prSet loTypeId="urn:microsoft.com/office/officeart/2009/layout/CircleArrowProcess" loCatId="cycle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AB00C19-C25C-4428-82B5-4512A06A1DAE}">
      <dgm:prSet phldrT="[Text]"/>
      <dgm:spPr/>
      <dgm:t>
        <a:bodyPr/>
        <a:lstStyle/>
        <a:p>
          <a:r>
            <a:rPr lang="en-US" dirty="0" smtClean="0"/>
            <a:t>High Performance</a:t>
          </a:r>
          <a:endParaRPr lang="en-US" dirty="0"/>
        </a:p>
      </dgm:t>
    </dgm:pt>
    <dgm:pt modelId="{450C7497-8B77-498C-A2B1-39D7D975D866}" type="parTrans" cxnId="{38291100-2B5C-408C-A295-5F20BB0B452F}">
      <dgm:prSet/>
      <dgm:spPr/>
      <dgm:t>
        <a:bodyPr/>
        <a:lstStyle/>
        <a:p>
          <a:endParaRPr lang="en-US"/>
        </a:p>
      </dgm:t>
    </dgm:pt>
    <dgm:pt modelId="{459E5C3D-044A-49A1-AC4D-A237EBE4A298}" type="sibTrans" cxnId="{38291100-2B5C-408C-A295-5F20BB0B452F}">
      <dgm:prSet/>
      <dgm:spPr/>
      <dgm:t>
        <a:bodyPr/>
        <a:lstStyle/>
        <a:p>
          <a:endParaRPr lang="en-US"/>
        </a:p>
      </dgm:t>
    </dgm:pt>
    <dgm:pt modelId="{16570510-DD45-4DB4-82B4-A66EFA33472F}">
      <dgm:prSet phldrT="[Text]"/>
      <dgm:spPr/>
      <dgm:t>
        <a:bodyPr/>
        <a:lstStyle/>
        <a:p>
          <a:r>
            <a:rPr lang="en-US" dirty="0" smtClean="0"/>
            <a:t>Low Cost</a:t>
          </a:r>
          <a:endParaRPr lang="en-US" dirty="0"/>
        </a:p>
      </dgm:t>
    </dgm:pt>
    <dgm:pt modelId="{6E19E9DE-28F3-4F88-BD70-955A1F867FD1}" type="parTrans" cxnId="{E8360039-D094-4A3B-877C-836E572A97C7}">
      <dgm:prSet/>
      <dgm:spPr/>
      <dgm:t>
        <a:bodyPr/>
        <a:lstStyle/>
        <a:p>
          <a:endParaRPr lang="en-US"/>
        </a:p>
      </dgm:t>
    </dgm:pt>
    <dgm:pt modelId="{3654AF7A-FA61-41BF-B18F-B7905ED67F4E}" type="sibTrans" cxnId="{E8360039-D094-4A3B-877C-836E572A97C7}">
      <dgm:prSet/>
      <dgm:spPr/>
      <dgm:t>
        <a:bodyPr/>
        <a:lstStyle/>
        <a:p>
          <a:endParaRPr lang="en-US"/>
        </a:p>
      </dgm:t>
    </dgm:pt>
    <dgm:pt modelId="{96C0146B-69A9-4001-A596-50741D3EEEB9}">
      <dgm:prSet phldrT="[Text]"/>
      <dgm:spPr/>
      <dgm:t>
        <a:bodyPr/>
        <a:lstStyle/>
        <a:p>
          <a:r>
            <a:rPr lang="en-US" dirty="0" smtClean="0"/>
            <a:t>Low Power</a:t>
          </a:r>
          <a:endParaRPr lang="en-US" dirty="0"/>
        </a:p>
      </dgm:t>
    </dgm:pt>
    <dgm:pt modelId="{6AA3F4EC-6CC5-49B5-A8C4-29DBA9B108E7}" type="parTrans" cxnId="{2E6458BC-4449-45A7-B7AA-53A57CE2ECA4}">
      <dgm:prSet/>
      <dgm:spPr/>
      <dgm:t>
        <a:bodyPr/>
        <a:lstStyle/>
        <a:p>
          <a:endParaRPr lang="en-US"/>
        </a:p>
      </dgm:t>
    </dgm:pt>
    <dgm:pt modelId="{28923AA9-97B7-4A77-AD0B-4B6359295418}" type="sibTrans" cxnId="{2E6458BC-4449-45A7-B7AA-53A57CE2ECA4}">
      <dgm:prSet/>
      <dgm:spPr/>
      <dgm:t>
        <a:bodyPr/>
        <a:lstStyle/>
        <a:p>
          <a:endParaRPr lang="en-US"/>
        </a:p>
      </dgm:t>
    </dgm:pt>
    <dgm:pt modelId="{43FE2DF5-0A79-47E7-AFAC-DD0777AB2367}" type="pres">
      <dgm:prSet presAssocID="{36918AE9-8D0C-498F-9F49-E0D4939236DB}" presName="Name0" presStyleCnt="0">
        <dgm:presLayoutVars>
          <dgm:chMax val="7"/>
          <dgm:chPref val="7"/>
          <dgm:dir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F8052F7C-E146-464E-ACA5-38C3C73B4BCC}" type="pres">
      <dgm:prSet presAssocID="{3AB00C19-C25C-4428-82B5-4512A06A1DAE}" presName="Accent1" presStyleCnt="0"/>
      <dgm:spPr/>
    </dgm:pt>
    <dgm:pt modelId="{DDA4F840-040A-4F2F-8B2B-D6B8F7C7B56F}" type="pres">
      <dgm:prSet presAssocID="{3AB00C19-C25C-4428-82B5-4512A06A1DAE}" presName="Accent" presStyleLbl="node1" presStyleIdx="0" presStyleCnt="3"/>
      <dgm:spPr/>
    </dgm:pt>
    <dgm:pt modelId="{7BD93C48-BAF9-44B2-97BF-9279727A43DC}" type="pres">
      <dgm:prSet presAssocID="{3AB00C19-C25C-4428-82B5-4512A06A1DAE}" presName="Parent1" presStyleLbl="revTx" presStyleIdx="0" presStyleCnt="3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BFCBA7E-E150-4538-81F8-BF3820442633}" type="pres">
      <dgm:prSet presAssocID="{16570510-DD45-4DB4-82B4-A66EFA33472F}" presName="Accent2" presStyleCnt="0"/>
      <dgm:spPr/>
    </dgm:pt>
    <dgm:pt modelId="{F863B5C4-EFFB-4ADE-80B2-E871DE8F2175}" type="pres">
      <dgm:prSet presAssocID="{16570510-DD45-4DB4-82B4-A66EFA33472F}" presName="Accent" presStyleLbl="node1" presStyleIdx="1" presStyleCnt="3"/>
      <dgm:spPr/>
    </dgm:pt>
    <dgm:pt modelId="{267C3708-C462-4343-94DA-36A6B1DB6BFE}" type="pres">
      <dgm:prSet presAssocID="{16570510-DD45-4DB4-82B4-A66EFA33472F}" presName="Parent2" presStyleLbl="revTx" presStyleIdx="1" presStyleCnt="3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0A5D1F-B3F9-43A9-9783-0E976560493E}" type="pres">
      <dgm:prSet presAssocID="{96C0146B-69A9-4001-A596-50741D3EEEB9}" presName="Accent3" presStyleCnt="0"/>
      <dgm:spPr/>
    </dgm:pt>
    <dgm:pt modelId="{087A23B9-678C-4931-871A-57BEC7D37C60}" type="pres">
      <dgm:prSet presAssocID="{96C0146B-69A9-4001-A596-50741D3EEEB9}" presName="Accent" presStyleLbl="node1" presStyleIdx="2" presStyleCnt="3"/>
      <dgm:spPr/>
    </dgm:pt>
    <dgm:pt modelId="{50BEB84F-5E60-4149-A8CB-6BE15D8C41D2}" type="pres">
      <dgm:prSet presAssocID="{96C0146B-69A9-4001-A596-50741D3EEEB9}" presName="Parent3" presStyleLbl="revTx" presStyleIdx="2" presStyleCnt="3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B5604DC-1530-497A-AEFE-CD2C4EB83F29}" type="presOf" srcId="{36918AE9-8D0C-498F-9F49-E0D4939236DB}" destId="{43FE2DF5-0A79-47E7-AFAC-DD0777AB2367}" srcOrd="0" destOrd="0" presId="urn:microsoft.com/office/officeart/2009/layout/CircleArrowProcess"/>
    <dgm:cxn modelId="{38291100-2B5C-408C-A295-5F20BB0B452F}" srcId="{36918AE9-8D0C-498F-9F49-E0D4939236DB}" destId="{3AB00C19-C25C-4428-82B5-4512A06A1DAE}" srcOrd="0" destOrd="0" parTransId="{450C7497-8B77-498C-A2B1-39D7D975D866}" sibTransId="{459E5C3D-044A-49A1-AC4D-A237EBE4A298}"/>
    <dgm:cxn modelId="{2E6458BC-4449-45A7-B7AA-53A57CE2ECA4}" srcId="{36918AE9-8D0C-498F-9F49-E0D4939236DB}" destId="{96C0146B-69A9-4001-A596-50741D3EEEB9}" srcOrd="2" destOrd="0" parTransId="{6AA3F4EC-6CC5-49B5-A8C4-29DBA9B108E7}" sibTransId="{28923AA9-97B7-4A77-AD0B-4B6359295418}"/>
    <dgm:cxn modelId="{E35A9E2C-8EAB-4332-A595-58047AAE498A}" type="presOf" srcId="{96C0146B-69A9-4001-A596-50741D3EEEB9}" destId="{50BEB84F-5E60-4149-A8CB-6BE15D8C41D2}" srcOrd="0" destOrd="0" presId="urn:microsoft.com/office/officeart/2009/layout/CircleArrowProcess"/>
    <dgm:cxn modelId="{E8360039-D094-4A3B-877C-836E572A97C7}" srcId="{36918AE9-8D0C-498F-9F49-E0D4939236DB}" destId="{16570510-DD45-4DB4-82B4-A66EFA33472F}" srcOrd="1" destOrd="0" parTransId="{6E19E9DE-28F3-4F88-BD70-955A1F867FD1}" sibTransId="{3654AF7A-FA61-41BF-B18F-B7905ED67F4E}"/>
    <dgm:cxn modelId="{3F13D689-271D-4CE1-AEE5-076206AE057C}" type="presOf" srcId="{3AB00C19-C25C-4428-82B5-4512A06A1DAE}" destId="{7BD93C48-BAF9-44B2-97BF-9279727A43DC}" srcOrd="0" destOrd="0" presId="urn:microsoft.com/office/officeart/2009/layout/CircleArrowProcess"/>
    <dgm:cxn modelId="{5054C285-7CE8-459F-B413-9C37101F11C0}" type="presOf" srcId="{16570510-DD45-4DB4-82B4-A66EFA33472F}" destId="{267C3708-C462-4343-94DA-36A6B1DB6BFE}" srcOrd="0" destOrd="0" presId="urn:microsoft.com/office/officeart/2009/layout/CircleArrowProcess"/>
    <dgm:cxn modelId="{DE466869-639F-46D0-BD24-5C583B551BB5}" type="presParOf" srcId="{43FE2DF5-0A79-47E7-AFAC-DD0777AB2367}" destId="{F8052F7C-E146-464E-ACA5-38C3C73B4BCC}" srcOrd="0" destOrd="0" presId="urn:microsoft.com/office/officeart/2009/layout/CircleArrowProcess"/>
    <dgm:cxn modelId="{E85CE26C-27F7-49FB-9EEC-7CACB55AF9C4}" type="presParOf" srcId="{F8052F7C-E146-464E-ACA5-38C3C73B4BCC}" destId="{DDA4F840-040A-4F2F-8B2B-D6B8F7C7B56F}" srcOrd="0" destOrd="0" presId="urn:microsoft.com/office/officeart/2009/layout/CircleArrowProcess"/>
    <dgm:cxn modelId="{E5C07DBC-4075-4972-B8F0-D409F856F106}" type="presParOf" srcId="{43FE2DF5-0A79-47E7-AFAC-DD0777AB2367}" destId="{7BD93C48-BAF9-44B2-97BF-9279727A43DC}" srcOrd="1" destOrd="0" presId="urn:microsoft.com/office/officeart/2009/layout/CircleArrowProcess"/>
    <dgm:cxn modelId="{4551850A-9C34-4004-AFFC-76F08B6B9EDB}" type="presParOf" srcId="{43FE2DF5-0A79-47E7-AFAC-DD0777AB2367}" destId="{9BFCBA7E-E150-4538-81F8-BF3820442633}" srcOrd="2" destOrd="0" presId="urn:microsoft.com/office/officeart/2009/layout/CircleArrowProcess"/>
    <dgm:cxn modelId="{78158026-64E1-44FB-B00F-6E6EE4A0203F}" type="presParOf" srcId="{9BFCBA7E-E150-4538-81F8-BF3820442633}" destId="{F863B5C4-EFFB-4ADE-80B2-E871DE8F2175}" srcOrd="0" destOrd="0" presId="urn:microsoft.com/office/officeart/2009/layout/CircleArrowProcess"/>
    <dgm:cxn modelId="{85346F6B-C08E-4879-929B-16E95D09B9DF}" type="presParOf" srcId="{43FE2DF5-0A79-47E7-AFAC-DD0777AB2367}" destId="{267C3708-C462-4343-94DA-36A6B1DB6BFE}" srcOrd="3" destOrd="0" presId="urn:microsoft.com/office/officeart/2009/layout/CircleArrowProcess"/>
    <dgm:cxn modelId="{946939D2-0172-49CB-A46B-354973A234F1}" type="presParOf" srcId="{43FE2DF5-0A79-47E7-AFAC-DD0777AB2367}" destId="{2F0A5D1F-B3F9-43A9-9783-0E976560493E}" srcOrd="4" destOrd="0" presId="urn:microsoft.com/office/officeart/2009/layout/CircleArrowProcess"/>
    <dgm:cxn modelId="{0A6DAC4E-D82F-42A8-A003-1D72EBEACFC6}" type="presParOf" srcId="{2F0A5D1F-B3F9-43A9-9783-0E976560493E}" destId="{087A23B9-678C-4931-871A-57BEC7D37C60}" srcOrd="0" destOrd="0" presId="urn:microsoft.com/office/officeart/2009/layout/CircleArrowProcess"/>
    <dgm:cxn modelId="{CBC57C87-FE45-4849-BE9F-E10F0F1D3A63}" type="presParOf" srcId="{43FE2DF5-0A79-47E7-AFAC-DD0777AB2367}" destId="{50BEB84F-5E60-4149-A8CB-6BE15D8C41D2}" srcOrd="5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84BD40E-1BFB-4E45-B17E-64F2630C1818}" type="doc">
      <dgm:prSet loTypeId="urn:microsoft.com/office/officeart/2009/layout/CircleArrowProcess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215E22BF-A54E-4BEE-83F6-A1CF4CFEC4B0}">
      <dgm:prSet phldrT="[Text]"/>
      <dgm:spPr/>
      <dgm:t>
        <a:bodyPr/>
        <a:lstStyle/>
        <a:p>
          <a:r>
            <a:rPr lang="en-US" smtClean="0"/>
            <a:t>Enhanced determinism</a:t>
          </a:r>
          <a:endParaRPr lang="en-US"/>
        </a:p>
      </dgm:t>
    </dgm:pt>
    <dgm:pt modelId="{7FFCEF2D-AFB1-40AC-A44F-0339DC3FB856}" type="parTrans" cxnId="{B2848B91-9D33-4DE8-9953-AA4E7DDD9ADA}">
      <dgm:prSet/>
      <dgm:spPr/>
      <dgm:t>
        <a:bodyPr/>
        <a:lstStyle/>
        <a:p>
          <a:endParaRPr lang="en-US"/>
        </a:p>
      </dgm:t>
    </dgm:pt>
    <dgm:pt modelId="{C246B69A-C1EC-441A-AF00-5791FACB852B}" type="sibTrans" cxnId="{B2848B91-9D33-4DE8-9953-AA4E7DDD9ADA}">
      <dgm:prSet/>
      <dgm:spPr/>
      <dgm:t>
        <a:bodyPr/>
        <a:lstStyle/>
        <a:p>
          <a:endParaRPr lang="en-US"/>
        </a:p>
      </dgm:t>
    </dgm:pt>
    <dgm:pt modelId="{43B89D8B-FF78-41D1-83FB-732F1F316321}">
      <dgm:prSet phldrT="[Text]"/>
      <dgm:spPr/>
      <dgm:t>
        <a:bodyPr/>
        <a:lstStyle/>
        <a:p>
          <a:r>
            <a:rPr lang="en-US" dirty="0" smtClean="0"/>
            <a:t>Ease of use</a:t>
          </a:r>
          <a:endParaRPr lang="en-US" dirty="0"/>
        </a:p>
      </dgm:t>
    </dgm:pt>
    <dgm:pt modelId="{27489883-A8E4-4DFA-BFF4-2347A57735CA}" type="parTrans" cxnId="{69F53BBF-F620-4BFD-954F-91616FECB491}">
      <dgm:prSet/>
      <dgm:spPr/>
      <dgm:t>
        <a:bodyPr/>
        <a:lstStyle/>
        <a:p>
          <a:endParaRPr lang="en-US"/>
        </a:p>
      </dgm:t>
    </dgm:pt>
    <dgm:pt modelId="{6E97D080-37BC-4754-BC0D-B99797B95C5E}" type="sibTrans" cxnId="{69F53BBF-F620-4BFD-954F-91616FECB491}">
      <dgm:prSet/>
      <dgm:spPr/>
      <dgm:t>
        <a:bodyPr/>
        <a:lstStyle/>
        <a:p>
          <a:endParaRPr lang="en-US"/>
        </a:p>
      </dgm:t>
    </dgm:pt>
    <dgm:pt modelId="{70CA7D09-4DB3-4435-88A3-8416CA489C13}">
      <dgm:prSet phldrT="[Text]"/>
      <dgm:spPr/>
      <dgm:t>
        <a:bodyPr/>
        <a:lstStyle/>
        <a:p>
          <a:r>
            <a:rPr lang="en-US" dirty="0" smtClean="0"/>
            <a:t>Wide choices</a:t>
          </a:r>
          <a:endParaRPr lang="en-US" dirty="0"/>
        </a:p>
      </dgm:t>
    </dgm:pt>
    <dgm:pt modelId="{F5706A27-9F4F-4FEC-BB68-34F2D5FC7C7A}" type="parTrans" cxnId="{714F260A-6E90-4FEF-BD4C-6979C27E7A22}">
      <dgm:prSet/>
      <dgm:spPr/>
      <dgm:t>
        <a:bodyPr/>
        <a:lstStyle/>
        <a:p>
          <a:endParaRPr lang="en-US"/>
        </a:p>
      </dgm:t>
    </dgm:pt>
    <dgm:pt modelId="{BCDE187A-0698-4D8C-B808-418FA6831B36}" type="sibTrans" cxnId="{714F260A-6E90-4FEF-BD4C-6979C27E7A22}">
      <dgm:prSet/>
      <dgm:spPr/>
      <dgm:t>
        <a:bodyPr/>
        <a:lstStyle/>
        <a:p>
          <a:endParaRPr lang="en-US"/>
        </a:p>
      </dgm:t>
    </dgm:pt>
    <dgm:pt modelId="{32A534E5-F9F3-45FD-ACCD-4226ABE2E6D9}" type="pres">
      <dgm:prSet presAssocID="{384BD40E-1BFB-4E45-B17E-64F2630C1818}" presName="Name0" presStyleCnt="0">
        <dgm:presLayoutVars>
          <dgm:chMax val="7"/>
          <dgm:chPref val="7"/>
          <dgm:dir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6D46B0E1-4F98-451F-A848-53D0B501B767}" type="pres">
      <dgm:prSet presAssocID="{215E22BF-A54E-4BEE-83F6-A1CF4CFEC4B0}" presName="Accent1" presStyleCnt="0"/>
      <dgm:spPr/>
    </dgm:pt>
    <dgm:pt modelId="{BA7DE1CF-940D-4999-9B82-080BE648A354}" type="pres">
      <dgm:prSet presAssocID="{215E22BF-A54E-4BEE-83F6-A1CF4CFEC4B0}" presName="Accent" presStyleLbl="node1" presStyleIdx="0" presStyleCnt="3"/>
      <dgm:spPr/>
    </dgm:pt>
    <dgm:pt modelId="{07F7A71B-C479-4F04-823E-20D3ACFE2A88}" type="pres">
      <dgm:prSet presAssocID="{215E22BF-A54E-4BEE-83F6-A1CF4CFEC4B0}" presName="Parent1" presStyleLbl="revTx" presStyleIdx="0" presStyleCnt="3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950A572-E8D7-4EE0-9554-A1EA58F508E7}" type="pres">
      <dgm:prSet presAssocID="{43B89D8B-FF78-41D1-83FB-732F1F316321}" presName="Accent2" presStyleCnt="0"/>
      <dgm:spPr/>
    </dgm:pt>
    <dgm:pt modelId="{EB6C2E09-E196-4675-B6F5-04D2E01128A3}" type="pres">
      <dgm:prSet presAssocID="{43B89D8B-FF78-41D1-83FB-732F1F316321}" presName="Accent" presStyleLbl="node1" presStyleIdx="1" presStyleCnt="3"/>
      <dgm:spPr/>
    </dgm:pt>
    <dgm:pt modelId="{DADFA0F0-67CA-4332-9550-927DDBAAACCA}" type="pres">
      <dgm:prSet presAssocID="{43B89D8B-FF78-41D1-83FB-732F1F316321}" presName="Parent2" presStyleLbl="revTx" presStyleIdx="1" presStyleCnt="3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116D660-C8C9-4405-AE78-C8478D4C4E0A}" type="pres">
      <dgm:prSet presAssocID="{70CA7D09-4DB3-4435-88A3-8416CA489C13}" presName="Accent3" presStyleCnt="0"/>
      <dgm:spPr/>
    </dgm:pt>
    <dgm:pt modelId="{1D957EDA-FB5E-4353-BE93-DC221F227735}" type="pres">
      <dgm:prSet presAssocID="{70CA7D09-4DB3-4435-88A3-8416CA489C13}" presName="Accent" presStyleLbl="node1" presStyleIdx="2" presStyleCnt="3"/>
      <dgm:spPr/>
    </dgm:pt>
    <dgm:pt modelId="{3C831BC5-3847-451A-97EB-1E8934ACA046}" type="pres">
      <dgm:prSet presAssocID="{70CA7D09-4DB3-4435-88A3-8416CA489C13}" presName="Parent3" presStyleLbl="revTx" presStyleIdx="2" presStyleCnt="3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9F53BBF-F620-4BFD-954F-91616FECB491}" srcId="{384BD40E-1BFB-4E45-B17E-64F2630C1818}" destId="{43B89D8B-FF78-41D1-83FB-732F1F316321}" srcOrd="1" destOrd="0" parTransId="{27489883-A8E4-4DFA-BFF4-2347A57735CA}" sibTransId="{6E97D080-37BC-4754-BC0D-B99797B95C5E}"/>
    <dgm:cxn modelId="{49F693EB-AFA5-45AD-BF07-DF1447223202}" type="presOf" srcId="{384BD40E-1BFB-4E45-B17E-64F2630C1818}" destId="{32A534E5-F9F3-45FD-ACCD-4226ABE2E6D9}" srcOrd="0" destOrd="0" presId="urn:microsoft.com/office/officeart/2009/layout/CircleArrowProcess"/>
    <dgm:cxn modelId="{55E0A3C3-C9EF-4EC0-B872-BD67CA5911DF}" type="presOf" srcId="{43B89D8B-FF78-41D1-83FB-732F1F316321}" destId="{DADFA0F0-67CA-4332-9550-927DDBAAACCA}" srcOrd="0" destOrd="0" presId="urn:microsoft.com/office/officeart/2009/layout/CircleArrowProcess"/>
    <dgm:cxn modelId="{52473965-D3AA-4F75-9F6E-1A2C08C81B99}" type="presOf" srcId="{70CA7D09-4DB3-4435-88A3-8416CA489C13}" destId="{3C831BC5-3847-451A-97EB-1E8934ACA046}" srcOrd="0" destOrd="0" presId="urn:microsoft.com/office/officeart/2009/layout/CircleArrowProcess"/>
    <dgm:cxn modelId="{B2848B91-9D33-4DE8-9953-AA4E7DDD9ADA}" srcId="{384BD40E-1BFB-4E45-B17E-64F2630C1818}" destId="{215E22BF-A54E-4BEE-83F6-A1CF4CFEC4B0}" srcOrd="0" destOrd="0" parTransId="{7FFCEF2D-AFB1-40AC-A44F-0339DC3FB856}" sibTransId="{C246B69A-C1EC-441A-AF00-5791FACB852B}"/>
    <dgm:cxn modelId="{714F260A-6E90-4FEF-BD4C-6979C27E7A22}" srcId="{384BD40E-1BFB-4E45-B17E-64F2630C1818}" destId="{70CA7D09-4DB3-4435-88A3-8416CA489C13}" srcOrd="2" destOrd="0" parTransId="{F5706A27-9F4F-4FEC-BB68-34F2D5FC7C7A}" sibTransId="{BCDE187A-0698-4D8C-B808-418FA6831B36}"/>
    <dgm:cxn modelId="{970F26B9-BC4F-43EF-89DE-FCD4F2298DA8}" type="presOf" srcId="{215E22BF-A54E-4BEE-83F6-A1CF4CFEC4B0}" destId="{07F7A71B-C479-4F04-823E-20D3ACFE2A88}" srcOrd="0" destOrd="0" presId="urn:microsoft.com/office/officeart/2009/layout/CircleArrowProcess"/>
    <dgm:cxn modelId="{04BF420D-52B1-4074-88E9-493F40956EA5}" type="presParOf" srcId="{32A534E5-F9F3-45FD-ACCD-4226ABE2E6D9}" destId="{6D46B0E1-4F98-451F-A848-53D0B501B767}" srcOrd="0" destOrd="0" presId="urn:microsoft.com/office/officeart/2009/layout/CircleArrowProcess"/>
    <dgm:cxn modelId="{6CB08E13-1AED-428A-8896-9AA8CDEE6850}" type="presParOf" srcId="{6D46B0E1-4F98-451F-A848-53D0B501B767}" destId="{BA7DE1CF-940D-4999-9B82-080BE648A354}" srcOrd="0" destOrd="0" presId="urn:microsoft.com/office/officeart/2009/layout/CircleArrowProcess"/>
    <dgm:cxn modelId="{D16F3B20-34F1-4276-A63F-8E80FAD8DE14}" type="presParOf" srcId="{32A534E5-F9F3-45FD-ACCD-4226ABE2E6D9}" destId="{07F7A71B-C479-4F04-823E-20D3ACFE2A88}" srcOrd="1" destOrd="0" presId="urn:microsoft.com/office/officeart/2009/layout/CircleArrowProcess"/>
    <dgm:cxn modelId="{354F227D-1D70-4F48-B441-930B72A577FB}" type="presParOf" srcId="{32A534E5-F9F3-45FD-ACCD-4226ABE2E6D9}" destId="{2950A572-E8D7-4EE0-9554-A1EA58F508E7}" srcOrd="2" destOrd="0" presId="urn:microsoft.com/office/officeart/2009/layout/CircleArrowProcess"/>
    <dgm:cxn modelId="{8A0F0B99-CC39-4156-B9F6-E9186466EF5B}" type="presParOf" srcId="{2950A572-E8D7-4EE0-9554-A1EA58F508E7}" destId="{EB6C2E09-E196-4675-B6F5-04D2E01128A3}" srcOrd="0" destOrd="0" presId="urn:microsoft.com/office/officeart/2009/layout/CircleArrowProcess"/>
    <dgm:cxn modelId="{0FB88E07-E0C9-4FD0-A6C8-EFC640372F92}" type="presParOf" srcId="{32A534E5-F9F3-45FD-ACCD-4226ABE2E6D9}" destId="{DADFA0F0-67CA-4332-9550-927DDBAAACCA}" srcOrd="3" destOrd="0" presId="urn:microsoft.com/office/officeart/2009/layout/CircleArrowProcess"/>
    <dgm:cxn modelId="{7257E243-0A39-4077-B1A2-DD6FA27818D0}" type="presParOf" srcId="{32A534E5-F9F3-45FD-ACCD-4226ABE2E6D9}" destId="{9116D660-C8C9-4405-AE78-C8478D4C4E0A}" srcOrd="4" destOrd="0" presId="urn:microsoft.com/office/officeart/2009/layout/CircleArrowProcess"/>
    <dgm:cxn modelId="{8273E8EC-D3FB-4098-834A-80EE7C01756A}" type="presParOf" srcId="{9116D660-C8C9-4405-AE78-C8478D4C4E0A}" destId="{1D957EDA-FB5E-4353-BE93-DC221F227735}" srcOrd="0" destOrd="0" presId="urn:microsoft.com/office/officeart/2009/layout/CircleArrowProcess"/>
    <dgm:cxn modelId="{D51B4D9C-08BC-4552-B1EA-62F136B7F051}" type="presParOf" srcId="{32A534E5-F9F3-45FD-ACCD-4226ABE2E6D9}" destId="{3C831BC5-3847-451A-97EB-1E8934ACA046}" srcOrd="5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A4F840-040A-4F2F-8B2B-D6B8F7C7B56F}">
      <dsp:nvSpPr>
        <dsp:cNvPr id="0" name=""/>
        <dsp:cNvSpPr/>
      </dsp:nvSpPr>
      <dsp:spPr>
        <a:xfrm>
          <a:off x="2341595" y="0"/>
          <a:ext cx="1956111" cy="1956409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D93C48-BAF9-44B2-97BF-9279727A43DC}">
      <dsp:nvSpPr>
        <dsp:cNvPr id="0" name=""/>
        <dsp:cNvSpPr/>
      </dsp:nvSpPr>
      <dsp:spPr>
        <a:xfrm>
          <a:off x="2773960" y="706323"/>
          <a:ext cx="1086973" cy="5433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High Performance</a:t>
          </a:r>
          <a:endParaRPr lang="en-US" sz="1600" kern="1200" dirty="0"/>
        </a:p>
      </dsp:txBody>
      <dsp:txXfrm>
        <a:off x="2773960" y="706323"/>
        <a:ext cx="1086973" cy="543356"/>
      </dsp:txXfrm>
    </dsp:sp>
    <dsp:sp modelId="{F863B5C4-EFFB-4ADE-80B2-E871DE8F2175}">
      <dsp:nvSpPr>
        <dsp:cNvPr id="0" name=""/>
        <dsp:cNvSpPr/>
      </dsp:nvSpPr>
      <dsp:spPr>
        <a:xfrm>
          <a:off x="1798292" y="1124102"/>
          <a:ext cx="1956111" cy="1956409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7C3708-C462-4343-94DA-36A6B1DB6BFE}">
      <dsp:nvSpPr>
        <dsp:cNvPr id="0" name=""/>
        <dsp:cNvSpPr/>
      </dsp:nvSpPr>
      <dsp:spPr>
        <a:xfrm>
          <a:off x="2232861" y="1836927"/>
          <a:ext cx="1086973" cy="5433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Low Cost</a:t>
          </a:r>
          <a:endParaRPr lang="en-US" sz="1600" kern="1200" dirty="0"/>
        </a:p>
      </dsp:txBody>
      <dsp:txXfrm>
        <a:off x="2232861" y="1836927"/>
        <a:ext cx="1086973" cy="543356"/>
      </dsp:txXfrm>
    </dsp:sp>
    <dsp:sp modelId="{087A23B9-678C-4931-871A-57BEC7D37C60}">
      <dsp:nvSpPr>
        <dsp:cNvPr id="0" name=""/>
        <dsp:cNvSpPr/>
      </dsp:nvSpPr>
      <dsp:spPr>
        <a:xfrm>
          <a:off x="2480819" y="2382723"/>
          <a:ext cx="1680603" cy="1681276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BEB84F-5E60-4149-A8CB-6BE15D8C41D2}">
      <dsp:nvSpPr>
        <dsp:cNvPr id="0" name=""/>
        <dsp:cNvSpPr/>
      </dsp:nvSpPr>
      <dsp:spPr>
        <a:xfrm>
          <a:off x="2776532" y="2969158"/>
          <a:ext cx="1086973" cy="5433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Low Power</a:t>
          </a:r>
          <a:endParaRPr lang="en-US" sz="1600" kern="1200" dirty="0"/>
        </a:p>
      </dsp:txBody>
      <dsp:txXfrm>
        <a:off x="2776532" y="2969158"/>
        <a:ext cx="1086973" cy="5433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7DE1CF-940D-4999-9B82-080BE648A354}">
      <dsp:nvSpPr>
        <dsp:cNvPr id="0" name=""/>
        <dsp:cNvSpPr/>
      </dsp:nvSpPr>
      <dsp:spPr>
        <a:xfrm>
          <a:off x="2341595" y="0"/>
          <a:ext cx="1956111" cy="1956409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F7A71B-C479-4F04-823E-20D3ACFE2A88}">
      <dsp:nvSpPr>
        <dsp:cNvPr id="0" name=""/>
        <dsp:cNvSpPr/>
      </dsp:nvSpPr>
      <dsp:spPr>
        <a:xfrm>
          <a:off x="2773960" y="706323"/>
          <a:ext cx="1086973" cy="5433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smtClean="0"/>
            <a:t>Enhanced determinism</a:t>
          </a:r>
          <a:endParaRPr lang="en-US" sz="1600" kern="1200"/>
        </a:p>
      </dsp:txBody>
      <dsp:txXfrm>
        <a:off x="2773960" y="706323"/>
        <a:ext cx="1086973" cy="543356"/>
      </dsp:txXfrm>
    </dsp:sp>
    <dsp:sp modelId="{EB6C2E09-E196-4675-B6F5-04D2E01128A3}">
      <dsp:nvSpPr>
        <dsp:cNvPr id="0" name=""/>
        <dsp:cNvSpPr/>
      </dsp:nvSpPr>
      <dsp:spPr>
        <a:xfrm>
          <a:off x="1798292" y="1124102"/>
          <a:ext cx="1956111" cy="1956409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3">
            <a:hueOff val="5625132"/>
            <a:satOff val="-8440"/>
            <a:lumOff val="-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DFA0F0-67CA-4332-9550-927DDBAAACCA}">
      <dsp:nvSpPr>
        <dsp:cNvPr id="0" name=""/>
        <dsp:cNvSpPr/>
      </dsp:nvSpPr>
      <dsp:spPr>
        <a:xfrm>
          <a:off x="2232861" y="1836927"/>
          <a:ext cx="1086973" cy="5433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Ease of use</a:t>
          </a:r>
          <a:endParaRPr lang="en-US" sz="1600" kern="1200" dirty="0"/>
        </a:p>
      </dsp:txBody>
      <dsp:txXfrm>
        <a:off x="2232861" y="1836927"/>
        <a:ext cx="1086973" cy="543356"/>
      </dsp:txXfrm>
    </dsp:sp>
    <dsp:sp modelId="{1D957EDA-FB5E-4353-BE93-DC221F227735}">
      <dsp:nvSpPr>
        <dsp:cNvPr id="0" name=""/>
        <dsp:cNvSpPr/>
      </dsp:nvSpPr>
      <dsp:spPr>
        <a:xfrm>
          <a:off x="2480819" y="2382723"/>
          <a:ext cx="1680603" cy="1681276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831BC5-3847-451A-97EB-1E8934ACA046}">
      <dsp:nvSpPr>
        <dsp:cNvPr id="0" name=""/>
        <dsp:cNvSpPr/>
      </dsp:nvSpPr>
      <dsp:spPr>
        <a:xfrm>
          <a:off x="2776532" y="2969158"/>
          <a:ext cx="1086973" cy="5433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Wide choices</a:t>
          </a:r>
          <a:endParaRPr lang="en-US" sz="1600" kern="1200" dirty="0"/>
        </a:p>
      </dsp:txBody>
      <dsp:txXfrm>
        <a:off x="2776532" y="2969158"/>
        <a:ext cx="1086973" cy="5433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40B00-2224-4A96-92D8-9FF01C13E9BE}" type="datetimeFigureOut">
              <a:rPr lang="en-US" smtClean="0"/>
              <a:t>5/12/2018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797D8-AAFC-47EB-8095-2547FC928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623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40B00-2224-4A96-92D8-9FF01C13E9BE}" type="datetimeFigureOut">
              <a:rPr lang="en-US" smtClean="0"/>
              <a:t>5/12/2018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797D8-AAFC-47EB-8095-2547FC928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053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40B00-2224-4A96-92D8-9FF01C13E9BE}" type="datetimeFigureOut">
              <a:rPr lang="en-US" smtClean="0"/>
              <a:t>5/12/2018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797D8-AAFC-47EB-8095-2547FC928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540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40B00-2224-4A96-92D8-9FF01C13E9BE}" type="datetimeFigureOut">
              <a:rPr lang="en-US" smtClean="0"/>
              <a:t>5/12/2018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797D8-AAFC-47EB-8095-2547FC928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513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40B00-2224-4A96-92D8-9FF01C13E9BE}" type="datetimeFigureOut">
              <a:rPr lang="en-US" smtClean="0"/>
              <a:t>5/12/2018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797D8-AAFC-47EB-8095-2547FC928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729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40B00-2224-4A96-92D8-9FF01C13E9BE}" type="datetimeFigureOut">
              <a:rPr lang="en-US" smtClean="0"/>
              <a:t>5/12/2018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797D8-AAFC-47EB-8095-2547FC928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487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40B00-2224-4A96-92D8-9FF01C13E9BE}" type="datetimeFigureOut">
              <a:rPr lang="en-US" smtClean="0"/>
              <a:t>5/12/2018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797D8-AAFC-47EB-8095-2547FC928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629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40B00-2224-4A96-92D8-9FF01C13E9BE}" type="datetimeFigureOut">
              <a:rPr lang="en-US" smtClean="0"/>
              <a:t>5/12/2018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797D8-AAFC-47EB-8095-2547FC928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491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40B00-2224-4A96-92D8-9FF01C13E9BE}" type="datetimeFigureOut">
              <a:rPr lang="en-US" smtClean="0"/>
              <a:t>5/12/2018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797D8-AAFC-47EB-8095-2547FC928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622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40B00-2224-4A96-92D8-9FF01C13E9BE}" type="datetimeFigureOut">
              <a:rPr lang="en-US" smtClean="0"/>
              <a:t>5/12/2018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797D8-AAFC-47EB-8095-2547FC928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157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40B00-2224-4A96-92D8-9FF01C13E9BE}" type="datetimeFigureOut">
              <a:rPr lang="en-US" smtClean="0"/>
              <a:t>5/12/2018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797D8-AAFC-47EB-8095-2547FC928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379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40B00-2224-4A96-92D8-9FF01C13E9BE}" type="datetimeFigureOut">
              <a:rPr lang="en-US" smtClean="0"/>
              <a:t>5/12/2018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4797D8-AAFC-47EB-8095-2547FC928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504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85800" y="6553200"/>
            <a:ext cx="8153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04800" y="6705600"/>
            <a:ext cx="8693888" cy="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998688" y="228600"/>
            <a:ext cx="0" cy="647700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839200" y="838200"/>
            <a:ext cx="0" cy="5715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381000"/>
            <a:ext cx="4515255" cy="2790508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1812674" y="3276600"/>
            <a:ext cx="5678157" cy="193899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  <a:latin typeface="Bradley Hand ITC" pitchFamily="66" charset="0"/>
              </a:rPr>
              <a:t>ARM Microcontroller Based Programming</a:t>
            </a:r>
          </a:p>
          <a:p>
            <a:pPr algn="ctr"/>
            <a:endParaRPr lang="en-US" sz="2400" b="1" cap="none" spc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Bradley Hand ITC" pitchFamily="66" charset="0"/>
            </a:endParaRPr>
          </a:p>
          <a:p>
            <a:pPr algn="ctr"/>
            <a:r>
              <a:rPr lang="en-US" sz="2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  <a:latin typeface="Bradley Hand ITC" pitchFamily="66" charset="0"/>
              </a:rPr>
              <a:t>Lecture 1</a:t>
            </a:r>
          </a:p>
          <a:p>
            <a:pPr algn="ctr"/>
            <a:endParaRPr lang="en-US" sz="2400" b="1" cap="none" spc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Bradley Hand ITC" pitchFamily="66" charset="0"/>
            </a:endParaRPr>
          </a:p>
          <a:p>
            <a:pPr algn="ctr"/>
            <a:r>
              <a:rPr lang="en-US" sz="2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  <a:latin typeface="Bradley Hand ITC" pitchFamily="66" charset="0"/>
              </a:rPr>
              <a:t>Introduction to ARM Processor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200" y="5943600"/>
            <a:ext cx="678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 smtClean="0"/>
              <a:t>This material is developed by </a:t>
            </a:r>
            <a:r>
              <a:rPr lang="en-US" sz="1200" b="1" i="1" dirty="0" err="1" smtClean="0"/>
              <a:t>IMTSchool</a:t>
            </a:r>
            <a:r>
              <a:rPr lang="en-US" sz="1200" b="1" i="1" dirty="0" smtClean="0"/>
              <a:t> for educational use only</a:t>
            </a:r>
          </a:p>
          <a:p>
            <a:pPr algn="ctr"/>
            <a:r>
              <a:rPr lang="en-US" sz="1200" b="1" i="1" dirty="0" smtClean="0"/>
              <a:t>All copyrights are reserved</a:t>
            </a:r>
            <a:endParaRPr lang="en-US" sz="1200" b="1" i="1" dirty="0"/>
          </a:p>
        </p:txBody>
      </p:sp>
    </p:spTree>
    <p:extLst>
      <p:ext uri="{BB962C8B-B14F-4D97-AF65-F5344CB8AC3E}">
        <p14:creationId xmlns:p14="http://schemas.microsoft.com/office/powerpoint/2010/main" val="2907544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85800" y="6553200"/>
            <a:ext cx="8153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04800" y="6705600"/>
            <a:ext cx="8693888" cy="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998688" y="228600"/>
            <a:ext cx="0" cy="647700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839200" y="838200"/>
            <a:ext cx="0" cy="5715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2400"/>
            <a:ext cx="1524000" cy="94185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853438" y="406117"/>
            <a:ext cx="343715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adley Hand ITC" pitchFamily="66" charset="0"/>
              </a:rPr>
              <a:t>Advanced RISC Machine</a:t>
            </a:r>
            <a:endParaRPr lang="en-US" sz="2400" b="1" cap="none" spc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Bradley Hand ITC" pitchFamily="66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1371600"/>
            <a:ext cx="2737084" cy="6452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3144" y="2022931"/>
            <a:ext cx="8077200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i="1" u="sng" dirty="0">
                <a:solidFill>
                  <a:srgbClr val="FF0000"/>
                </a:solidFill>
              </a:rPr>
              <a:t>1990</a:t>
            </a:r>
            <a:r>
              <a:rPr lang="en-US" dirty="0"/>
              <a:t> </a:t>
            </a:r>
            <a:endParaRPr lang="en-US" dirty="0" smtClean="0"/>
          </a:p>
          <a:p>
            <a:pPr algn="just"/>
            <a:r>
              <a:rPr lang="en-US" dirty="0" smtClean="0"/>
              <a:t>ARM</a:t>
            </a:r>
            <a:r>
              <a:rPr lang="en-US" dirty="0"/>
              <a:t> was formed in  as Advanced RISC Machines Ltd., a joint venture of Apple Computer, </a:t>
            </a:r>
            <a:r>
              <a:rPr lang="en-US" dirty="0" smtClean="0"/>
              <a:t>Acorn</a:t>
            </a:r>
            <a:r>
              <a:rPr lang="en-US" dirty="0"/>
              <a:t> Computer Group, and VLSI Technology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sz="2000" b="1" i="1" u="sng" dirty="0" smtClean="0">
                <a:solidFill>
                  <a:srgbClr val="FF0000"/>
                </a:solidFill>
              </a:rPr>
              <a:t>1991</a:t>
            </a:r>
          </a:p>
          <a:p>
            <a:pPr algn="just"/>
            <a:r>
              <a:rPr lang="en-US" dirty="0"/>
              <a:t>ARM introduced the ARM6 processor family to meet Apple </a:t>
            </a:r>
            <a:r>
              <a:rPr lang="en-US" dirty="0" smtClean="0"/>
              <a:t>requirement for  its product “Personal </a:t>
            </a:r>
            <a:r>
              <a:rPr lang="en-US" dirty="0"/>
              <a:t>Digital Assistant” called </a:t>
            </a:r>
            <a:r>
              <a:rPr lang="en-US" dirty="0" smtClean="0"/>
              <a:t>Newton.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Unfortunately, the Newton was not a great success and so </a:t>
            </a:r>
            <a:r>
              <a:rPr lang="en-US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Robin Saxby</a:t>
            </a:r>
            <a:r>
              <a:rPr lang="en-US" dirty="0"/>
              <a:t>, ARM’s CEO, decided to grow the business by pursuing what we now call intellectual </a:t>
            </a:r>
            <a:r>
              <a:rPr lang="en-US" dirty="0" smtClean="0"/>
              <a:t>property “IP” business model.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ARM processor was licensed to many semiconductor companies for an upfront license fee and then royalties on production silicon. This effectively </a:t>
            </a:r>
            <a:r>
              <a:rPr lang="en-US" dirty="0" smtClean="0"/>
              <a:t>incentivized </a:t>
            </a:r>
            <a:r>
              <a:rPr lang="en-US" dirty="0"/>
              <a:t>ARM to help its partner get to high volume shipments as quickly as possible</a:t>
            </a:r>
            <a:r>
              <a:rPr lang="en-US" dirty="0" smtClean="0"/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3144" y="1381780"/>
            <a:ext cx="15966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History</a:t>
            </a:r>
            <a:endParaRPr lang="en-US" sz="2800" b="1" i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0446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85800" y="6553200"/>
            <a:ext cx="8153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04800" y="6705600"/>
            <a:ext cx="8693888" cy="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998688" y="228600"/>
            <a:ext cx="0" cy="647700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839200" y="838200"/>
            <a:ext cx="0" cy="5715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2400"/>
            <a:ext cx="1524000" cy="94185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853438" y="406117"/>
            <a:ext cx="343715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adley Hand ITC" pitchFamily="66" charset="0"/>
              </a:rPr>
              <a:t>Advanced RISC Machine</a:t>
            </a:r>
            <a:endParaRPr lang="en-US" sz="2400" b="1" cap="none" spc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Bradley Hand ITC" pitchFamily="66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1371600"/>
            <a:ext cx="2737084" cy="6452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3144" y="2022931"/>
            <a:ext cx="807720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i="1" u="sng" dirty="0" smtClean="0">
                <a:solidFill>
                  <a:srgbClr val="FF0000"/>
                </a:solidFill>
              </a:rPr>
              <a:t>1993</a:t>
            </a:r>
            <a:r>
              <a:rPr lang="en-US" dirty="0" smtClean="0"/>
              <a:t> </a:t>
            </a:r>
          </a:p>
          <a:p>
            <a:pPr algn="just"/>
            <a:r>
              <a:rPr lang="en-US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Nokia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/>
              <a:t>approached </a:t>
            </a:r>
            <a:r>
              <a:rPr lang="en-US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TI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/>
              <a:t>to produce a chipset for an upcoming GSM mobile phone and TI proposed an ARM7 based system to meet Nokia’s performance and power requirements. Unfortunately Nokia rejected the </a:t>
            </a:r>
            <a:r>
              <a:rPr lang="en-US" dirty="0" smtClean="0"/>
              <a:t>proposal</a:t>
            </a:r>
            <a:r>
              <a:rPr lang="en-US" dirty="0"/>
              <a:t> </a:t>
            </a:r>
            <a:r>
              <a:rPr lang="en-US" dirty="0" smtClean="0"/>
              <a:t>!</a:t>
            </a:r>
          </a:p>
          <a:p>
            <a:pPr algn="just"/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13144" y="1381780"/>
            <a:ext cx="15966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History</a:t>
            </a:r>
            <a:endParaRPr lang="en-US" sz="2800" b="1" i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6319" y="3276600"/>
            <a:ext cx="1724025" cy="28479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3429000"/>
            <a:ext cx="628051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ARM came up with a radical idea to create a subset of the ARM instruction set that required just 16 bits per instruction. This improved the code density by about 35% and brought the memory footprint down to a size comparable with 16 bit microcontrollers.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first ARM-powered GSM phone was the hugely popular </a:t>
            </a:r>
            <a:r>
              <a:rPr lang="en-US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Nokia6110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/>
              <a:t>and the </a:t>
            </a:r>
            <a:r>
              <a:rPr lang="en-US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ARM7TDMI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334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85800" y="6553200"/>
            <a:ext cx="8153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04800" y="6705600"/>
            <a:ext cx="8693888" cy="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998688" y="228600"/>
            <a:ext cx="0" cy="647700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839200" y="838200"/>
            <a:ext cx="0" cy="5715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2400"/>
            <a:ext cx="1524000" cy="94185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853438" y="406117"/>
            <a:ext cx="343715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adley Hand ITC" pitchFamily="66" charset="0"/>
              </a:rPr>
              <a:t>Advanced RISC Machine</a:t>
            </a:r>
            <a:endParaRPr lang="en-US" sz="2400" b="1" cap="none" spc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Bradley Hand ITC" pitchFamily="66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1371600"/>
            <a:ext cx="2737084" cy="6452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3144" y="2022931"/>
            <a:ext cx="8077200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i="1" u="sng" dirty="0" smtClean="0">
                <a:solidFill>
                  <a:srgbClr val="FF0000"/>
                </a:solidFill>
              </a:rPr>
              <a:t>1997</a:t>
            </a:r>
            <a:r>
              <a:rPr lang="en-US" dirty="0" smtClean="0"/>
              <a:t> </a:t>
            </a:r>
          </a:p>
          <a:p>
            <a:pPr algn="just"/>
            <a:r>
              <a:rPr lang="en-US" dirty="0" smtClean="0"/>
              <a:t>ARM </a:t>
            </a:r>
            <a:r>
              <a:rPr lang="en-US" dirty="0"/>
              <a:t>had grown to become a £27m business with a net income of £</a:t>
            </a:r>
            <a:r>
              <a:rPr lang="en-US" dirty="0" smtClean="0"/>
              <a:t>3m !</a:t>
            </a:r>
          </a:p>
          <a:p>
            <a:pPr algn="just"/>
            <a:r>
              <a:rPr lang="en-US" dirty="0" smtClean="0"/>
              <a:t>ARM then decided to </a:t>
            </a:r>
            <a:r>
              <a:rPr lang="en-US" dirty="0"/>
              <a:t>build software-based systems on a single chip, the so-called system-on-chip, or </a:t>
            </a:r>
            <a:r>
              <a:rPr lang="en-US" dirty="0" err="1"/>
              <a:t>SoC.</a:t>
            </a:r>
            <a:endParaRPr lang="en-US" dirty="0" smtClean="0"/>
          </a:p>
          <a:p>
            <a:pPr algn="just"/>
            <a:endParaRPr lang="en-US" dirty="0"/>
          </a:p>
          <a:p>
            <a:pPr algn="just"/>
            <a:r>
              <a:rPr lang="en-US" b="1" i="1" u="sng" dirty="0">
                <a:solidFill>
                  <a:srgbClr val="FF0000"/>
                </a:solidFill>
              </a:rPr>
              <a:t>2001</a:t>
            </a:r>
            <a:r>
              <a:rPr lang="en-US" dirty="0"/>
              <a:t> </a:t>
            </a:r>
            <a:endParaRPr lang="en-US" dirty="0" smtClean="0"/>
          </a:p>
          <a:p>
            <a:pPr algn="just"/>
            <a:r>
              <a:rPr lang="en-US" dirty="0" smtClean="0"/>
              <a:t>ARM9 </a:t>
            </a:r>
            <a:r>
              <a:rPr lang="en-US" dirty="0"/>
              <a:t>was announced. It was fully synthesizable with a 5 stage pipeline and a proper MMU, as well as hardware support for Java acceleration and some DSP extension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b="1" i="1" u="sng" dirty="0" smtClean="0">
                <a:solidFill>
                  <a:srgbClr val="FF0000"/>
                </a:solidFill>
              </a:rPr>
              <a:t>2002</a:t>
            </a:r>
          </a:p>
          <a:p>
            <a:pPr algn="just"/>
            <a:r>
              <a:rPr lang="en-US" dirty="0"/>
              <a:t>ARM11 families had extended the capability of the ARM architecture in the direction of higher performance with the introduction of multi-processing, SIMD multimedia instructions, DSP capability, Java acceleration </a:t>
            </a:r>
            <a:r>
              <a:rPr lang="en-US" dirty="0" err="1"/>
              <a:t>etc</a:t>
            </a:r>
            <a:endParaRPr lang="en-US" b="1" i="1" u="sng" dirty="0" smtClean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13144" y="1381780"/>
            <a:ext cx="15966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History</a:t>
            </a:r>
            <a:endParaRPr lang="en-US" sz="2800" b="1" i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9355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85800" y="6553200"/>
            <a:ext cx="8153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04800" y="6705600"/>
            <a:ext cx="8693888" cy="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998688" y="228600"/>
            <a:ext cx="0" cy="647700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839200" y="838200"/>
            <a:ext cx="0" cy="5715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" y="2971800"/>
            <a:ext cx="2590800" cy="33528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2400"/>
            <a:ext cx="1524000" cy="94185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853438" y="406117"/>
            <a:ext cx="343715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adley Hand ITC" pitchFamily="66" charset="0"/>
              </a:rPr>
              <a:t>Advanced RISC Machine</a:t>
            </a:r>
            <a:endParaRPr lang="en-US" sz="2400" b="1" cap="none" spc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Bradley Hand ITC" pitchFamily="66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276600" y="2971800"/>
            <a:ext cx="2590800" cy="335280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1371600"/>
            <a:ext cx="2737084" cy="6452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3144" y="2022931"/>
            <a:ext cx="80772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i="1" u="sng" dirty="0" smtClean="0">
                <a:solidFill>
                  <a:srgbClr val="FF0000"/>
                </a:solidFill>
              </a:rPr>
              <a:t>2005</a:t>
            </a:r>
            <a:endParaRPr lang="en-US" dirty="0" smtClean="0"/>
          </a:p>
          <a:p>
            <a:pPr algn="just"/>
            <a:r>
              <a:rPr lang="en-US" dirty="0" smtClean="0"/>
              <a:t>The ARM Cortex … !</a:t>
            </a:r>
            <a:endParaRPr lang="en-US" b="1" i="1" u="sng" dirty="0" smtClean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13144" y="1381780"/>
            <a:ext cx="15966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History</a:t>
            </a:r>
            <a:endParaRPr lang="en-US" sz="2800" b="1" i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096000" y="2971800"/>
            <a:ext cx="2590800" cy="335280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/>
          <p:cNvSpPr/>
          <p:nvPr/>
        </p:nvSpPr>
        <p:spPr>
          <a:xfrm>
            <a:off x="838200" y="3124200"/>
            <a:ext cx="1905000" cy="5715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Cortex - A</a:t>
            </a:r>
            <a:endParaRPr lang="en-US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5057274"/>
            <a:ext cx="1073042" cy="107304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581400" y="3124200"/>
            <a:ext cx="1905000" cy="5715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Cortex - R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4816407"/>
            <a:ext cx="1033463" cy="136078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400800" y="3124200"/>
            <a:ext cx="1905000" cy="5715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Cortex - M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09600" y="3953470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Application Processors for full OS and Open Application Platforms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4866667"/>
            <a:ext cx="1428750" cy="14287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352800" y="3962400"/>
            <a:ext cx="2438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/>
            <a:r>
              <a:rPr lang="en-US" dirty="0" smtClean="0"/>
              <a:t>Embedded Processors for real time signal processing and control applications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6172200" y="3962400"/>
            <a:ext cx="243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/>
            <a:r>
              <a:rPr lang="en-US" dirty="0" smtClean="0"/>
              <a:t>Microcontroller Oriented Processors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1442" y="4586454"/>
            <a:ext cx="1289158" cy="9549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743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85800" y="6553200"/>
            <a:ext cx="8153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04800" y="6705600"/>
            <a:ext cx="8693888" cy="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998688" y="228600"/>
            <a:ext cx="0" cy="647700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839200" y="838200"/>
            <a:ext cx="0" cy="5715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2400"/>
            <a:ext cx="1524000" cy="94185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855047" y="406117"/>
            <a:ext cx="3433953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adley Hand ITC" pitchFamily="66" charset="0"/>
              </a:rPr>
              <a:t>ARM Processor Roadmap</a:t>
            </a:r>
            <a:endParaRPr lang="en-US" sz="2400" b="1" cap="none" spc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Bradley Hand ITC" pitchFamily="66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419" y="1135543"/>
            <a:ext cx="6724650" cy="5222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962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85800" y="6553200"/>
            <a:ext cx="8153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04800" y="6705600"/>
            <a:ext cx="8693888" cy="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998688" y="228600"/>
            <a:ext cx="0" cy="647700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839200" y="838200"/>
            <a:ext cx="0" cy="5715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2400"/>
            <a:ext cx="1524000" cy="94185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968862" y="406117"/>
            <a:ext cx="320632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adley Hand ITC" pitchFamily="66" charset="0"/>
              </a:rPr>
              <a:t>ARM Silicon Partners</a:t>
            </a:r>
            <a:endParaRPr lang="en-US" sz="2400" b="1" cap="none" spc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Bradley Hand ITC" pitchFamily="66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0687" y="933927"/>
            <a:ext cx="6143625" cy="5523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22023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85800" y="6553200"/>
            <a:ext cx="8153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04800" y="6705600"/>
            <a:ext cx="8693888" cy="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998688" y="228600"/>
            <a:ext cx="0" cy="647700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839200" y="838200"/>
            <a:ext cx="0" cy="5715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2400"/>
            <a:ext cx="1524000" cy="94185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721202" y="406117"/>
            <a:ext cx="370165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adley Hand ITC" pitchFamily="66" charset="0"/>
              </a:rPr>
              <a:t>ARM Major Characteristics</a:t>
            </a:r>
            <a:endParaRPr lang="en-US" sz="2400" b="1" cap="none" spc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Bradley Hand ITC" pitchFamily="66" charset="0"/>
            </a:endParaRP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3623333419"/>
              </p:ext>
            </p:extLst>
          </p:nvPr>
        </p:nvGraphicFramePr>
        <p:xfrm>
          <a:off x="-838200" y="14351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867633004"/>
              </p:ext>
            </p:extLst>
          </p:nvPr>
        </p:nvGraphicFramePr>
        <p:xfrm>
          <a:off x="2590800" y="14351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342056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85800" y="6553200"/>
            <a:ext cx="8153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04800" y="6705600"/>
            <a:ext cx="8693888" cy="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998688" y="228600"/>
            <a:ext cx="0" cy="647700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839200" y="838200"/>
            <a:ext cx="0" cy="5715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2400"/>
            <a:ext cx="1524000" cy="94185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540065" y="406117"/>
            <a:ext cx="4063933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adley Hand ITC" pitchFamily="66" charset="0"/>
              </a:rPr>
              <a:t>General Processor Architecture</a:t>
            </a:r>
            <a:endParaRPr lang="en-US" sz="2400" b="1" cap="none" spc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Bradley Hand ITC" pitchFamily="66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524000" y="1752600"/>
            <a:ext cx="6934200" cy="3429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flipH="1">
            <a:off x="3733800" y="3957935"/>
            <a:ext cx="152400" cy="6096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505200" y="3957935"/>
            <a:ext cx="228600" cy="6096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>
            <a:off x="3886200" y="3957935"/>
            <a:ext cx="5334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4191000" y="3957935"/>
            <a:ext cx="228600" cy="10668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2971800" y="3957935"/>
            <a:ext cx="5334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2971800" y="3957935"/>
            <a:ext cx="381000" cy="10668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3352800" y="5024735"/>
            <a:ext cx="838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429000" y="4567535"/>
            <a:ext cx="838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ALU</a:t>
            </a:r>
            <a:endParaRPr lang="en-US" sz="2400" b="1" dirty="0">
              <a:solidFill>
                <a:srgbClr val="0000FF"/>
              </a:solidFill>
            </a:endParaRPr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3200400" y="3653135"/>
            <a:ext cx="0" cy="2286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4114800" y="3653135"/>
            <a:ext cx="0" cy="2286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2743200" y="4567535"/>
            <a:ext cx="38100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743200" y="3348336"/>
            <a:ext cx="990600" cy="30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Operand 1</a:t>
            </a:r>
            <a:endParaRPr lang="en-US" sz="14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3657600" y="3348335"/>
            <a:ext cx="990600" cy="30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Operand 2</a:t>
            </a:r>
            <a:endParaRPr lang="en-US" sz="14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1600200" y="4262735"/>
            <a:ext cx="1371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Selection Signal</a:t>
            </a:r>
            <a:endParaRPr lang="en-US" sz="1400" b="1" dirty="0"/>
          </a:p>
        </p:txBody>
      </p:sp>
      <p:sp>
        <p:nvSpPr>
          <p:cNvPr id="28" name="Rounded Rectangle 27"/>
          <p:cNvSpPr/>
          <p:nvPr/>
        </p:nvSpPr>
        <p:spPr>
          <a:xfrm>
            <a:off x="5181600" y="2438400"/>
            <a:ext cx="1143000" cy="23622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5181600" y="2819400"/>
            <a:ext cx="1143000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5181600" y="3200400"/>
            <a:ext cx="1143000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5181600" y="3581400"/>
            <a:ext cx="1143000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5181600" y="3962400"/>
            <a:ext cx="1143000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324600" y="2514600"/>
            <a:ext cx="152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PC: Program Counter</a:t>
            </a:r>
            <a:endParaRPr lang="en-US" sz="1200" dirty="0"/>
          </a:p>
        </p:txBody>
      </p:sp>
      <p:sp>
        <p:nvSpPr>
          <p:cNvPr id="34" name="TextBox 33"/>
          <p:cNvSpPr txBox="1"/>
          <p:nvPr/>
        </p:nvSpPr>
        <p:spPr>
          <a:xfrm>
            <a:off x="6324600" y="2923401"/>
            <a:ext cx="1600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IR: Instruction Register</a:t>
            </a:r>
            <a:endParaRPr lang="en-US" sz="1200" dirty="0"/>
          </a:p>
        </p:txBody>
      </p:sp>
      <p:sp>
        <p:nvSpPr>
          <p:cNvPr id="35" name="TextBox 34"/>
          <p:cNvSpPr txBox="1"/>
          <p:nvPr/>
        </p:nvSpPr>
        <p:spPr>
          <a:xfrm>
            <a:off x="6324600" y="3304401"/>
            <a:ext cx="1600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ACC: Accumulator</a:t>
            </a:r>
            <a:endParaRPr lang="en-US" sz="1200" dirty="0"/>
          </a:p>
        </p:txBody>
      </p:sp>
      <p:sp>
        <p:nvSpPr>
          <p:cNvPr id="36" name="TextBox 35"/>
          <p:cNvSpPr txBox="1"/>
          <p:nvPr/>
        </p:nvSpPr>
        <p:spPr>
          <a:xfrm>
            <a:off x="6324600" y="3657600"/>
            <a:ext cx="1981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PSW: Processor Status Word</a:t>
            </a:r>
            <a:endParaRPr lang="en-US" sz="1200" dirty="0"/>
          </a:p>
        </p:txBody>
      </p:sp>
      <p:sp>
        <p:nvSpPr>
          <p:cNvPr id="37" name="TextBox 36"/>
          <p:cNvSpPr txBox="1"/>
          <p:nvPr/>
        </p:nvSpPr>
        <p:spPr>
          <a:xfrm>
            <a:off x="6324600" y="4191000"/>
            <a:ext cx="2286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GPR: General Purpose Registers</a:t>
            </a:r>
            <a:endParaRPr lang="en-US" sz="1200" dirty="0"/>
          </a:p>
        </p:txBody>
      </p:sp>
      <p:sp>
        <p:nvSpPr>
          <p:cNvPr id="38" name="TextBox 37"/>
          <p:cNvSpPr txBox="1"/>
          <p:nvPr/>
        </p:nvSpPr>
        <p:spPr>
          <a:xfrm>
            <a:off x="5105400" y="1981200"/>
            <a:ext cx="1371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Register File</a:t>
            </a:r>
            <a:endParaRPr lang="en-US" b="1" dirty="0"/>
          </a:p>
        </p:txBody>
      </p:sp>
      <p:cxnSp>
        <p:nvCxnSpPr>
          <p:cNvPr id="39" name="Straight Connector 38"/>
          <p:cNvCxnSpPr/>
          <p:nvPr/>
        </p:nvCxnSpPr>
        <p:spPr>
          <a:xfrm>
            <a:off x="533400" y="2209800"/>
            <a:ext cx="990600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533400" y="2514600"/>
            <a:ext cx="990600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33400" y="3124200"/>
            <a:ext cx="990600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533400" y="3429000"/>
            <a:ext cx="990600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533400" y="3962400"/>
            <a:ext cx="9906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533400" y="4267200"/>
            <a:ext cx="9906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6200" y="3059668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Data Bus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91440" y="2148840"/>
            <a:ext cx="137160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Address Bus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76200" y="3901440"/>
            <a:ext cx="137160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Control Bus</a:t>
            </a:r>
            <a:endParaRPr lang="en-US" dirty="0"/>
          </a:p>
        </p:txBody>
      </p:sp>
      <p:sp>
        <p:nvSpPr>
          <p:cNvPr id="48" name="Rounded Rectangle 47"/>
          <p:cNvSpPr/>
          <p:nvPr/>
        </p:nvSpPr>
        <p:spPr>
          <a:xfrm>
            <a:off x="1905000" y="2133600"/>
            <a:ext cx="2819400" cy="9906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CU</a:t>
            </a:r>
            <a:endParaRPr lang="en-US" sz="3200" b="1" dirty="0"/>
          </a:p>
        </p:txBody>
      </p:sp>
      <p:sp>
        <p:nvSpPr>
          <p:cNvPr id="49" name="Rectangle 48"/>
          <p:cNvSpPr/>
          <p:nvPr/>
        </p:nvSpPr>
        <p:spPr>
          <a:xfrm>
            <a:off x="3810000" y="2590800"/>
            <a:ext cx="762000" cy="5334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ID</a:t>
            </a:r>
            <a:endParaRPr lang="en-US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2209800" y="5334000"/>
            <a:ext cx="5791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CU  : Control Unit</a:t>
            </a:r>
          </a:p>
          <a:p>
            <a:r>
              <a:rPr lang="en-US" dirty="0" smtClean="0"/>
              <a:t>ID    : Instruction Decoder</a:t>
            </a:r>
          </a:p>
          <a:p>
            <a:r>
              <a:rPr lang="en-US" dirty="0" smtClean="0"/>
              <a:t>ALU: Arithmetic Logic Unit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113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85800" y="6553200"/>
            <a:ext cx="8153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04800" y="6705600"/>
            <a:ext cx="8693888" cy="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998688" y="228600"/>
            <a:ext cx="0" cy="647700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839200" y="838200"/>
            <a:ext cx="0" cy="5715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2400"/>
            <a:ext cx="1524000" cy="94185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937339" y="406117"/>
            <a:ext cx="526939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adley Hand ITC" pitchFamily="66" charset="0"/>
              </a:rPr>
              <a:t>Von </a:t>
            </a:r>
            <a:r>
              <a:rPr lang="en-US" sz="2400" b="1" dirty="0" err="1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adley Hand ITC" pitchFamily="66" charset="0"/>
              </a:rPr>
              <a:t>Numann</a:t>
            </a:r>
            <a:r>
              <a:rPr lang="en-US" sz="2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adley Hand ITC" pitchFamily="66" charset="0"/>
              </a:rPr>
              <a:t> </a:t>
            </a:r>
            <a:r>
              <a:rPr lang="en-US" sz="2400" b="1" dirty="0" err="1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adley Hand ITC" pitchFamily="66" charset="0"/>
              </a:rPr>
              <a:t>Vs</a:t>
            </a:r>
            <a:r>
              <a:rPr lang="en-US" sz="2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adley Hand ITC" pitchFamily="66" charset="0"/>
              </a:rPr>
              <a:t> Harvard Architecture </a:t>
            </a:r>
            <a:endParaRPr lang="en-US" sz="2400" b="1" cap="none" spc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Bradley Hand ITC" pitchFamily="66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447801"/>
            <a:ext cx="3227664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1447801"/>
            <a:ext cx="3826032" cy="2795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38200" y="4572000"/>
            <a:ext cx="29228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Simple in Design</a:t>
            </a:r>
          </a:p>
          <a:p>
            <a:endParaRPr lang="en-US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The code is executed serially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736" y="4572000"/>
            <a:ext cx="29228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Complex in design</a:t>
            </a:r>
          </a:p>
          <a:p>
            <a:endParaRPr lang="en-US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The code is executed in parallel</a:t>
            </a:r>
          </a:p>
        </p:txBody>
      </p:sp>
    </p:spTree>
    <p:extLst>
      <p:ext uri="{BB962C8B-B14F-4D97-AF65-F5344CB8AC3E}">
        <p14:creationId xmlns:p14="http://schemas.microsoft.com/office/powerpoint/2010/main" val="785317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85800" y="6553200"/>
            <a:ext cx="8153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04800" y="6705600"/>
            <a:ext cx="8693888" cy="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998688" y="228600"/>
            <a:ext cx="0" cy="647700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839200" y="838200"/>
            <a:ext cx="0" cy="5715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2400"/>
            <a:ext cx="1524000" cy="94185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400074" y="406117"/>
            <a:ext cx="234391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adley Hand ITC" pitchFamily="66" charset="0"/>
              </a:rPr>
              <a:t>Bus Architecture</a:t>
            </a:r>
            <a:endParaRPr lang="en-US" sz="2400" b="1" cap="none" spc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Bradley Hand ITC" pitchFamily="66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04800" y="1371600"/>
            <a:ext cx="83820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>
                <a:solidFill>
                  <a:srgbClr val="FF0000"/>
                </a:solidFill>
              </a:rPr>
              <a:t>Note: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i="1" dirty="0" smtClean="0"/>
              <a:t>Bus Definition</a:t>
            </a:r>
          </a:p>
          <a:p>
            <a:endParaRPr lang="en-US" i="1" dirty="0" smtClean="0"/>
          </a:p>
          <a:p>
            <a:pPr algn="just"/>
            <a:r>
              <a:rPr lang="en-US" sz="2000" b="1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Bus</a:t>
            </a:r>
            <a:r>
              <a:rPr lang="en-US" sz="20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smtClean="0"/>
              <a:t>is not just a group of wires, a bus is </a:t>
            </a:r>
            <a:r>
              <a:rPr lang="en-US" dirty="0"/>
              <a:t>a communication system that transfers data between components inside </a:t>
            </a:r>
            <a:r>
              <a:rPr lang="en-US" dirty="0" smtClean="0"/>
              <a:t>the processor, </a:t>
            </a:r>
            <a:r>
              <a:rPr lang="en-US" dirty="0"/>
              <a:t>or between </a:t>
            </a:r>
            <a:r>
              <a:rPr lang="en-US" dirty="0" smtClean="0"/>
              <a:t>processor and peripherals. </a:t>
            </a:r>
            <a:r>
              <a:rPr lang="en-US" dirty="0"/>
              <a:t>This expression covers all related </a:t>
            </a:r>
            <a:r>
              <a:rPr lang="en-US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hardware components</a:t>
            </a:r>
            <a:r>
              <a:rPr lang="en-US" dirty="0"/>
              <a:t> (wire, optical fiber, etc.) and </a:t>
            </a:r>
            <a:r>
              <a:rPr lang="en-US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software</a:t>
            </a:r>
            <a:r>
              <a:rPr lang="en-US" dirty="0"/>
              <a:t>, including </a:t>
            </a:r>
            <a:r>
              <a:rPr lang="en-US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communication 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protocols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999" y="3300919"/>
            <a:ext cx="6194087" cy="28585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808274"/>
            <a:ext cx="13716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>
                <a:solidFill>
                  <a:srgbClr val="FF0000"/>
                </a:solidFill>
              </a:rPr>
              <a:t>Example:</a:t>
            </a:r>
          </a:p>
          <a:p>
            <a:endParaRPr lang="en-US" dirty="0" smtClean="0"/>
          </a:p>
          <a:p>
            <a:r>
              <a:rPr lang="en-US" sz="2400" b="1" dirty="0" smtClean="0"/>
              <a:t>  PCI Bus</a:t>
            </a:r>
          </a:p>
          <a:p>
            <a:pPr algn="ctr"/>
            <a:endParaRPr lang="en-US" i="1" dirty="0" smtClean="0">
              <a:solidFill>
                <a:srgbClr val="FF0000"/>
              </a:solidFill>
            </a:endParaRPr>
          </a:p>
          <a:p>
            <a:pPr algn="ctr"/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Peripheral </a:t>
            </a:r>
            <a:r>
              <a:rPr lang="en-US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Component Interconnect</a:t>
            </a:r>
          </a:p>
        </p:txBody>
      </p:sp>
    </p:spTree>
    <p:extLst>
      <p:ext uri="{BB962C8B-B14F-4D97-AF65-F5344CB8AC3E}">
        <p14:creationId xmlns:p14="http://schemas.microsoft.com/office/powerpoint/2010/main" val="785317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85800" y="6553200"/>
            <a:ext cx="8153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04800" y="6705600"/>
            <a:ext cx="8693888" cy="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998688" y="228600"/>
            <a:ext cx="0" cy="647700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839200" y="838200"/>
            <a:ext cx="0" cy="5715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2400"/>
            <a:ext cx="1524000" cy="94185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007336" y="406117"/>
            <a:ext cx="3129383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adley Hand ITC" pitchFamily="66" charset="0"/>
              </a:rPr>
              <a:t>ARM Bus Architecture</a:t>
            </a:r>
            <a:endParaRPr lang="en-US" sz="2400" b="1" cap="none" spc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Bradley Hand ITC" pitchFamily="66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57200" y="1524000"/>
            <a:ext cx="80772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</a:rPr>
              <a:t>AMBA Bus</a:t>
            </a:r>
          </a:p>
          <a:p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                </a:t>
            </a:r>
            <a:r>
              <a:rPr lang="en-US" b="1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Advanced </a:t>
            </a:r>
            <a:r>
              <a:rPr lang="en-US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Microcontroller Bus Architecture</a:t>
            </a:r>
            <a:endParaRPr lang="en-US" i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3063" y="4114800"/>
            <a:ext cx="5878874" cy="197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81000" y="2438400"/>
            <a:ext cx="8382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/>
              <a:t>Open standard</a:t>
            </a:r>
            <a:r>
              <a:rPr lang="en-US" dirty="0"/>
              <a:t>, on-chip interconnect specification for the connection </a:t>
            </a:r>
            <a:r>
              <a:rPr lang="en-US" dirty="0" smtClean="0"/>
              <a:t>and management </a:t>
            </a:r>
            <a:r>
              <a:rPr lang="en-US" dirty="0"/>
              <a:t>of functional blocks in system-on-a-chip (</a:t>
            </a:r>
            <a:r>
              <a:rPr lang="en-US" dirty="0" err="1"/>
              <a:t>SoC</a:t>
            </a:r>
            <a:r>
              <a:rPr lang="en-US" dirty="0"/>
              <a:t>) designs</a:t>
            </a:r>
            <a:r>
              <a:rPr lang="en-US" dirty="0" smtClean="0"/>
              <a:t>. It was </a:t>
            </a:r>
            <a:r>
              <a:rPr lang="en-US" dirty="0"/>
              <a:t>introduced by ARM in </a:t>
            </a:r>
            <a:r>
              <a:rPr lang="en-US" dirty="0" smtClean="0"/>
              <a:t>1996 and currently it includes some protocols that considered </a:t>
            </a:r>
            <a:r>
              <a:rPr lang="en-US" dirty="0"/>
              <a:t>as  </a:t>
            </a:r>
            <a:r>
              <a:rPr lang="en-US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de facto standard</a:t>
            </a:r>
            <a:r>
              <a:rPr lang="en-US" dirty="0"/>
              <a:t> for embedded processors because they are well documented and can be used without </a:t>
            </a:r>
            <a:r>
              <a:rPr lang="en-US" dirty="0" smtClean="0"/>
              <a:t>royalties.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317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85800" y="6553200"/>
            <a:ext cx="8153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04800" y="6705600"/>
            <a:ext cx="8693888" cy="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998688" y="228600"/>
            <a:ext cx="0" cy="647700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839200" y="838200"/>
            <a:ext cx="0" cy="5715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2400"/>
            <a:ext cx="1524000" cy="94185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618881" y="406117"/>
            <a:ext cx="190629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adley Hand ITC" pitchFamily="66" charset="0"/>
              </a:rPr>
              <a:t>AHB </a:t>
            </a:r>
            <a:r>
              <a:rPr lang="en-US" sz="2400" b="1" dirty="0" err="1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adley Hand ITC" pitchFamily="66" charset="0"/>
              </a:rPr>
              <a:t>Vs</a:t>
            </a:r>
            <a:r>
              <a:rPr lang="en-US" sz="2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adley Hand ITC" pitchFamily="66" charset="0"/>
              </a:rPr>
              <a:t> APB</a:t>
            </a:r>
            <a:endParaRPr lang="en-US" sz="2400" b="1" cap="none" spc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Bradley Hand ITC" pitchFamily="66" charset="0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4495800" y="1981200"/>
            <a:ext cx="0" cy="3657600"/>
          </a:xfrm>
          <a:prstGeom prst="line">
            <a:avLst/>
          </a:prstGeom>
          <a:ln w="53975" cmpd="dbl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28600" y="1594247"/>
            <a:ext cx="472440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AHB</a:t>
            </a:r>
          </a:p>
          <a:p>
            <a:r>
              <a:rPr lang="en-US" sz="1600" dirty="0"/>
              <a:t> </a:t>
            </a:r>
            <a:r>
              <a:rPr lang="en-US" sz="1600" dirty="0" smtClean="0"/>
              <a:t>       stands for </a:t>
            </a:r>
            <a:r>
              <a:rPr lang="en-US" sz="1600" b="1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Advanced High Performance Bus</a:t>
            </a:r>
            <a:endParaRPr lang="en-US" sz="1600" b="1" i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1999" y="1600200"/>
            <a:ext cx="472440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APB</a:t>
            </a:r>
          </a:p>
          <a:p>
            <a:r>
              <a:rPr lang="en-US" sz="1600" dirty="0" smtClean="0"/>
              <a:t>        stands for </a:t>
            </a:r>
            <a:r>
              <a:rPr lang="en-US" sz="1600" b="1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Advanced Peripheral Bus</a:t>
            </a:r>
            <a:endParaRPr lang="en-US" sz="1600" b="1" i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9094" y="2514600"/>
            <a:ext cx="3810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itchFamily="34" charset="0"/>
              <a:buChar char="•"/>
            </a:pPr>
            <a:r>
              <a:rPr lang="en-US" dirty="0" smtClean="0"/>
              <a:t>High Performance</a:t>
            </a:r>
          </a:p>
          <a:p>
            <a:pPr marL="285750" indent="-285750">
              <a:lnSpc>
                <a:spcPct val="200000"/>
              </a:lnSpc>
              <a:buFont typeface="Arial" pitchFamily="34" charset="0"/>
              <a:buChar char="•"/>
            </a:pPr>
            <a:r>
              <a:rPr lang="en-US" dirty="0" smtClean="0"/>
              <a:t>Full Duplex</a:t>
            </a:r>
          </a:p>
          <a:p>
            <a:pPr marL="285750" indent="-285750">
              <a:lnSpc>
                <a:spcPct val="200000"/>
              </a:lnSpc>
              <a:buFont typeface="Arial" pitchFamily="34" charset="0"/>
              <a:buChar char="•"/>
            </a:pPr>
            <a:r>
              <a:rPr lang="en-US" dirty="0" smtClean="0"/>
              <a:t>Support Pipelining</a:t>
            </a:r>
          </a:p>
          <a:p>
            <a:pPr marL="285750" indent="-285750">
              <a:lnSpc>
                <a:spcPct val="200000"/>
              </a:lnSpc>
              <a:buFont typeface="Arial" pitchFamily="34" charset="0"/>
              <a:buChar char="•"/>
            </a:pPr>
            <a:r>
              <a:rPr lang="en-US" dirty="0" err="1" smtClean="0"/>
              <a:t>MultiMaster</a:t>
            </a:r>
            <a:r>
              <a:rPr lang="en-US" dirty="0" smtClean="0"/>
              <a:t> operation</a:t>
            </a:r>
          </a:p>
          <a:p>
            <a:pPr marL="285750" indent="-285750">
              <a:lnSpc>
                <a:spcPct val="200000"/>
              </a:lnSpc>
              <a:buFont typeface="Arial" pitchFamily="34" charset="0"/>
              <a:buChar char="•"/>
            </a:pPr>
            <a:r>
              <a:rPr lang="en-US" dirty="0" smtClean="0"/>
              <a:t>Complex in design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4876800" y="2514600"/>
            <a:ext cx="3810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itchFamily="34" charset="0"/>
              <a:buChar char="•"/>
            </a:pPr>
            <a:r>
              <a:rPr lang="en-US" dirty="0" smtClean="0"/>
              <a:t>Low Power</a:t>
            </a:r>
          </a:p>
          <a:p>
            <a:pPr marL="285750" indent="-285750">
              <a:lnSpc>
                <a:spcPct val="200000"/>
              </a:lnSpc>
              <a:buFont typeface="Arial" pitchFamily="34" charset="0"/>
              <a:buChar char="•"/>
            </a:pPr>
            <a:r>
              <a:rPr lang="en-US" dirty="0" smtClean="0"/>
              <a:t>No </a:t>
            </a:r>
            <a:r>
              <a:rPr lang="en-US" dirty="0"/>
              <a:t>Pipelining</a:t>
            </a:r>
            <a:endParaRPr lang="en-US" dirty="0" smtClean="0"/>
          </a:p>
          <a:p>
            <a:pPr marL="285750" indent="-285750">
              <a:lnSpc>
                <a:spcPct val="200000"/>
              </a:lnSpc>
              <a:buFont typeface="Arial" pitchFamily="34" charset="0"/>
              <a:buChar char="•"/>
            </a:pPr>
            <a:r>
              <a:rPr lang="en-US" dirty="0" smtClean="0"/>
              <a:t>Simple in design</a:t>
            </a:r>
          </a:p>
          <a:p>
            <a:pPr marL="285750" indent="-285750">
              <a:lnSpc>
                <a:spcPct val="200000"/>
              </a:lnSpc>
              <a:buFont typeface="Arial" pitchFamily="34" charset="0"/>
              <a:buChar char="•"/>
            </a:pPr>
            <a:r>
              <a:rPr lang="en-US" dirty="0" smtClean="0"/>
              <a:t>Used for connecting peripherals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317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85800" y="6553200"/>
            <a:ext cx="8153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04800" y="6705600"/>
            <a:ext cx="8693888" cy="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998688" y="228600"/>
            <a:ext cx="0" cy="647700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839200" y="838200"/>
            <a:ext cx="0" cy="5715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2400"/>
            <a:ext cx="1524000" cy="94185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391256" y="406117"/>
            <a:ext cx="236154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adley Hand ITC" pitchFamily="66" charset="0"/>
              </a:rPr>
              <a:t>ST Product lines</a:t>
            </a:r>
            <a:endParaRPr lang="en-US" sz="2400" b="1" cap="none" spc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Bradley Hand ITC" pitchFamily="66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7362" y="1079668"/>
            <a:ext cx="6029325" cy="5203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3886200" y="3200400"/>
            <a:ext cx="1790401" cy="381000"/>
          </a:xfrm>
          <a:prstGeom prst="rect">
            <a:avLst/>
          </a:prstGeom>
          <a:noFill/>
          <a:ln w="349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317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85800" y="6553200"/>
            <a:ext cx="8153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04800" y="6705600"/>
            <a:ext cx="8693888" cy="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998688" y="228600"/>
            <a:ext cx="0" cy="647700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839200" y="838200"/>
            <a:ext cx="0" cy="5715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2400"/>
            <a:ext cx="1524000" cy="94185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118745" y="406117"/>
            <a:ext cx="2906566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adley Hand ITC" pitchFamily="66" charset="0"/>
              </a:rPr>
              <a:t>STM32F103 Family</a:t>
            </a:r>
            <a:endParaRPr lang="en-US" sz="2400" b="1" cap="none" spc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Bradley Hand ITC" pitchFamily="66" charset="0"/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28" y="1668678"/>
            <a:ext cx="7772400" cy="39897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3048001" y="4191000"/>
            <a:ext cx="1143000" cy="304800"/>
          </a:xfrm>
          <a:prstGeom prst="rect">
            <a:avLst/>
          </a:prstGeom>
          <a:noFill/>
          <a:ln w="349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317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85800" y="6553200"/>
            <a:ext cx="8153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04800" y="6705600"/>
            <a:ext cx="8693888" cy="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998688" y="228600"/>
            <a:ext cx="0" cy="647700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839200" y="838200"/>
            <a:ext cx="0" cy="5715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2400"/>
            <a:ext cx="1524000" cy="94185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509607" y="406117"/>
            <a:ext cx="412484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adley Hand ITC" pitchFamily="66" charset="0"/>
              </a:rPr>
              <a:t>STM32F103C8 Specifications</a:t>
            </a:r>
            <a:endParaRPr lang="en-US" sz="2400" b="1" cap="none" spc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Bradley Hand ITC" pitchFamily="66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2362200"/>
            <a:ext cx="3162300" cy="2559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6424614"/>
              </p:ext>
            </p:extLst>
          </p:nvPr>
        </p:nvGraphicFramePr>
        <p:xfrm>
          <a:off x="685800" y="1788184"/>
          <a:ext cx="4495801" cy="42849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7401"/>
                <a:gridCol w="2438400"/>
              </a:tblGrid>
              <a:tr h="263031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Core</a:t>
                      </a:r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ARM Cortex-M3</a:t>
                      </a:r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263031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Max</a:t>
                      </a:r>
                      <a:r>
                        <a:rPr lang="en-US" sz="1200" baseline="0" dirty="0" smtClean="0"/>
                        <a:t> Operating Frequency</a:t>
                      </a:r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72 MHz</a:t>
                      </a:r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264928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Flash Memory</a:t>
                      </a:r>
                      <a:r>
                        <a:rPr lang="en-US" sz="1200" baseline="0" dirty="0" smtClean="0"/>
                        <a:t> Size</a:t>
                      </a:r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64 KB</a:t>
                      </a:r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263031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RAM Size</a:t>
                      </a:r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20 KB</a:t>
                      </a:r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789092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Timers</a:t>
                      </a:r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4</a:t>
                      </a:r>
                      <a:r>
                        <a:rPr lang="en-US" sz="1200" baseline="0" dirty="0" smtClean="0"/>
                        <a:t> x 16 Bit Timers</a:t>
                      </a:r>
                    </a:p>
                    <a:p>
                      <a:r>
                        <a:rPr lang="en-US" sz="1200" baseline="0" dirty="0" smtClean="0"/>
                        <a:t>2 x WDT</a:t>
                      </a:r>
                    </a:p>
                    <a:p>
                      <a:r>
                        <a:rPr lang="en-US" sz="1200" baseline="0" dirty="0" smtClean="0"/>
                        <a:t>24-Bit Down Counter</a:t>
                      </a:r>
                    </a:p>
                    <a:p>
                      <a:r>
                        <a:rPr lang="en-US" sz="1200" baseline="0" dirty="0" smtClean="0"/>
                        <a:t>RTC</a:t>
                      </a:r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263031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ADC</a:t>
                      </a:r>
                      <a:r>
                        <a:rPr lang="en-US" sz="1200" baseline="0" dirty="0" smtClean="0"/>
                        <a:t> Converter</a:t>
                      </a:r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10 x 12 Bit</a:t>
                      </a:r>
                      <a:r>
                        <a:rPr lang="en-US" sz="1200" baseline="0" dirty="0" smtClean="0"/>
                        <a:t> Channels</a:t>
                      </a:r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263031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GPIO</a:t>
                      </a:r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32 High Current</a:t>
                      </a:r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263031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I2C Bus</a:t>
                      </a:r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 Channels</a:t>
                      </a:r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263031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SPI Bus</a:t>
                      </a:r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 Channels</a:t>
                      </a:r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263031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USART Bus</a:t>
                      </a:r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3 Channels</a:t>
                      </a:r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271752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CAN Bus</a:t>
                      </a:r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 Channel</a:t>
                      </a:r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263031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Operating Voltage</a:t>
                      </a:r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 to 3.6 Voltage</a:t>
                      </a:r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444452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Operating</a:t>
                      </a:r>
                      <a:r>
                        <a:rPr lang="en-US" sz="1200" baseline="0" dirty="0" smtClean="0"/>
                        <a:t> Temperature</a:t>
                      </a:r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- 40 to</a:t>
                      </a:r>
                      <a:r>
                        <a:rPr lang="en-US" sz="1200" baseline="0" dirty="0" smtClean="0"/>
                        <a:t> 105 Degree C</a:t>
                      </a:r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5317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85800" y="6553200"/>
            <a:ext cx="8153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04800" y="6705600"/>
            <a:ext cx="8693888" cy="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998688" y="228600"/>
            <a:ext cx="0" cy="647700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839200" y="838200"/>
            <a:ext cx="0" cy="5715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2400"/>
            <a:ext cx="1524000" cy="94185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431334" y="406117"/>
            <a:ext cx="228139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adley Hand ITC" pitchFamily="66" charset="0"/>
              </a:rPr>
              <a:t>Development Kit</a:t>
            </a:r>
            <a:endParaRPr lang="en-US" sz="2400" b="1" cap="none" spc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Bradley Hand ITC" pitchFamily="66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638" y="1057275"/>
            <a:ext cx="7522466" cy="527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625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85800" y="6553200"/>
            <a:ext cx="8153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04800" y="6705600"/>
            <a:ext cx="8693888" cy="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998688" y="228600"/>
            <a:ext cx="0" cy="647700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839200" y="838200"/>
            <a:ext cx="0" cy="5715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2400"/>
            <a:ext cx="1524000" cy="94185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078676" y="406117"/>
            <a:ext cx="298671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adley Hand ITC" pitchFamily="66" charset="0"/>
              </a:rPr>
              <a:t>Processor Architecture</a:t>
            </a:r>
            <a:endParaRPr lang="en-US" sz="2400" b="1" cap="none" spc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Bradley Hand ITC" pitchFamily="66" charset="0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31" y="1372048"/>
            <a:ext cx="6705600" cy="4647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38732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85800" y="6553200"/>
            <a:ext cx="8153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04800" y="6705600"/>
            <a:ext cx="8693888" cy="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998688" y="228600"/>
            <a:ext cx="0" cy="647700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839200" y="838200"/>
            <a:ext cx="0" cy="5715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2400"/>
            <a:ext cx="1524000" cy="94185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626094" y="406117"/>
            <a:ext cx="189186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adley Hand ITC" pitchFamily="66" charset="0"/>
              </a:rPr>
              <a:t>Memory Map</a:t>
            </a:r>
            <a:endParaRPr lang="en-US" sz="2400" b="1" cap="none" spc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Bradley Hand ITC" pitchFamily="66" charset="0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838200"/>
            <a:ext cx="5762625" cy="5554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85317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85800" y="6553200"/>
            <a:ext cx="8153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04800" y="6705600"/>
            <a:ext cx="8693888" cy="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998688" y="228600"/>
            <a:ext cx="0" cy="647700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839200" y="838200"/>
            <a:ext cx="0" cy="5715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2400"/>
            <a:ext cx="1524000" cy="94185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388850" y="406117"/>
            <a:ext cx="2366353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adley Hand ITC" pitchFamily="66" charset="0"/>
              </a:rPr>
              <a:t>Bus Connections</a:t>
            </a:r>
            <a:endParaRPr lang="en-US" sz="2400" b="1" cap="none" spc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Bradley Hand ITC" pitchFamily="66" charset="0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219200"/>
            <a:ext cx="7870845" cy="521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85317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85800" y="6553200"/>
            <a:ext cx="8153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04800" y="6705600"/>
            <a:ext cx="8693888" cy="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998688" y="228600"/>
            <a:ext cx="0" cy="647700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839200" y="838200"/>
            <a:ext cx="0" cy="5715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381000"/>
            <a:ext cx="4515255" cy="27905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9200" y="5943600"/>
            <a:ext cx="678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 smtClean="0"/>
              <a:t>This material is developed by </a:t>
            </a:r>
            <a:r>
              <a:rPr lang="en-US" sz="1200" b="1" i="1" dirty="0" err="1" smtClean="0"/>
              <a:t>IMTSchool</a:t>
            </a:r>
            <a:r>
              <a:rPr lang="en-US" sz="1200" b="1" i="1" dirty="0" smtClean="0"/>
              <a:t> for educational use only</a:t>
            </a:r>
          </a:p>
          <a:p>
            <a:pPr algn="ctr"/>
            <a:r>
              <a:rPr lang="en-US" sz="1200" b="1" i="1" dirty="0" smtClean="0"/>
              <a:t>All copyrights are reserved</a:t>
            </a:r>
            <a:endParaRPr lang="en-US" sz="1200" b="1" i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4384" y="3646251"/>
            <a:ext cx="653616" cy="65361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0992" y="4495800"/>
            <a:ext cx="660400" cy="66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0" y="3733800"/>
            <a:ext cx="373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www.imtschool.com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3184850" y="4659868"/>
            <a:ext cx="4358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ww.facebook.com/</a:t>
            </a:r>
            <a:r>
              <a:rPr lang="en-US" b="1" dirty="0" err="1" smtClean="0"/>
              <a:t>imaketechnologyschool</a:t>
            </a:r>
            <a:r>
              <a:rPr lang="en-US" b="1" dirty="0" smtClean="0"/>
              <a:t>/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9103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983</TotalTime>
  <Words>586</Words>
  <Application>Microsoft Office PowerPoint</Application>
  <PresentationFormat>On-screen Show (4:3)</PresentationFormat>
  <Paragraphs>148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Ahmed</dc:creator>
  <cp:lastModifiedBy>Ahmed</cp:lastModifiedBy>
  <cp:revision>67</cp:revision>
  <dcterms:created xsi:type="dcterms:W3CDTF">2017-07-05T23:12:25Z</dcterms:created>
  <dcterms:modified xsi:type="dcterms:W3CDTF">2018-05-12T22:52:27Z</dcterms:modified>
</cp:coreProperties>
</file>