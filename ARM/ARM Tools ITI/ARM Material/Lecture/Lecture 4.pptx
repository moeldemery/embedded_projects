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5" r:id="rId2"/>
    <p:sldId id="411" r:id="rId3"/>
    <p:sldId id="412" r:id="rId4"/>
    <p:sldId id="413" r:id="rId5"/>
    <p:sldId id="414" r:id="rId6"/>
    <p:sldId id="415" r:id="rId7"/>
    <p:sldId id="416" r:id="rId8"/>
    <p:sldId id="417" r:id="rId9"/>
    <p:sldId id="418" r:id="rId10"/>
    <p:sldId id="419" r:id="rId11"/>
    <p:sldId id="420" r:id="rId12"/>
    <p:sldId id="421" r:id="rId13"/>
    <p:sldId id="422" r:id="rId14"/>
    <p:sldId id="423" r:id="rId15"/>
    <p:sldId id="29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8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8C5EA-8DAD-4B80-9FEF-C03E3F2EAE0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B8CD1-068E-4176-930F-B6EC7CC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4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2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5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4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1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2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8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2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91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2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7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40B00-2224-4A96-92D8-9FF01C13E9BE}" type="datetimeFigureOut">
              <a:rPr lang="en-US" smtClean="0"/>
              <a:t>5/11/2018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0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1000"/>
            <a:ext cx="4515255" cy="279050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587727" y="3276600"/>
            <a:ext cx="4128053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Bradley Hand ITC" pitchFamily="66" charset="0"/>
              </a:rPr>
              <a:t>Direct Memory Access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  <a:p>
            <a:pPr algn="ctr"/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  <a:p>
            <a:pPr algn="ctr"/>
            <a:r>
              <a:rPr lang="en-US" sz="2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Bradley Hand ITC" pitchFamily="66" charset="0"/>
              </a:rPr>
              <a:t>Lecture </a:t>
            </a:r>
            <a:r>
              <a:rPr lang="en-US" sz="2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Bradley Hand ITC" pitchFamily="66" charset="0"/>
              </a:rPr>
              <a:t>4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  <a:p>
            <a:pPr algn="ctr"/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  <a:p>
            <a:pPr algn="ctr"/>
            <a:r>
              <a:rPr lang="en-US" sz="2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Bradley Hand ITC" pitchFamily="66" charset="0"/>
              </a:rPr>
              <a:t>Introduction to ARM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59436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smtClean="0"/>
              <a:t>This material is developed by </a:t>
            </a:r>
            <a:r>
              <a:rPr lang="en-US" sz="1200" b="1" i="1" dirty="0" err="1" smtClean="0"/>
              <a:t>IMTSchool</a:t>
            </a:r>
            <a:r>
              <a:rPr lang="en-US" sz="1200" b="1" i="1" dirty="0" smtClean="0"/>
              <a:t> for educational use only</a:t>
            </a:r>
          </a:p>
          <a:p>
            <a:pPr algn="ctr"/>
            <a:r>
              <a:rPr lang="en-US" sz="1200" b="1" i="1" dirty="0" smtClean="0"/>
              <a:t>All copyrights are reserved</a:t>
            </a:r>
            <a:endParaRPr lang="en-US" sz="1200" b="1" i="1" dirty="0"/>
          </a:p>
        </p:txBody>
      </p:sp>
    </p:spTree>
    <p:extLst>
      <p:ext uri="{BB962C8B-B14F-4D97-AF65-F5344CB8AC3E}">
        <p14:creationId xmlns:p14="http://schemas.microsoft.com/office/powerpoint/2010/main" val="290754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065069" y="406117"/>
            <a:ext cx="301396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Direct Memory Access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1371600"/>
            <a:ext cx="68484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989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941910" y="406117"/>
            <a:ext cx="12602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Features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000" y="1524000"/>
            <a:ext cx="8153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1- Very Speed data transfer between: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Memory To Memory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Memory To Peripheral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Peripheral To Peripheral</a:t>
            </a:r>
          </a:p>
          <a:p>
            <a:endParaRPr lang="en-US" dirty="0" smtClean="0"/>
          </a:p>
          <a:p>
            <a:r>
              <a:rPr lang="en-US" dirty="0" smtClean="0"/>
              <a:t>2- Data is transferred without any actions of the CPU, which keeps the CPU resources free for other operations</a:t>
            </a:r>
          </a:p>
          <a:p>
            <a:endParaRPr lang="en-US" dirty="0"/>
          </a:p>
          <a:p>
            <a:r>
              <a:rPr lang="en-US" dirty="0" smtClean="0"/>
              <a:t>3- DMA in STM32F103 medium density controller has 7 different channels </a:t>
            </a:r>
          </a:p>
          <a:p>
            <a:endParaRPr lang="en-US" dirty="0"/>
          </a:p>
          <a:p>
            <a:r>
              <a:rPr lang="en-US" dirty="0" smtClean="0"/>
              <a:t>4- Priorities of the channels is programmable in 4 levels: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Very High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High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Medium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941910" y="406117"/>
            <a:ext cx="12602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Features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000" y="1600200"/>
            <a:ext cx="815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1- when </a:t>
            </a:r>
            <a:r>
              <a:rPr lang="en-US" dirty="0"/>
              <a:t>the CPU and DMA are targeting the same destination (memory </a:t>
            </a:r>
            <a:r>
              <a:rPr lang="en-US" dirty="0" smtClean="0"/>
              <a:t>or peripheral</a:t>
            </a:r>
            <a:r>
              <a:rPr lang="en-US" dirty="0"/>
              <a:t>). The bus matrix implements round-robin scheduling, thus ensuring at least half </a:t>
            </a:r>
            <a:r>
              <a:rPr lang="en-US" dirty="0" smtClean="0"/>
              <a:t>of </a:t>
            </a:r>
            <a:r>
              <a:rPr lang="en-US" dirty="0"/>
              <a:t>the system bus bandwidth (both to memory and peripheral) for the CPU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2- the peripheral sends a request signal to the DMA Controller. The DMA </a:t>
            </a:r>
          </a:p>
          <a:p>
            <a:r>
              <a:rPr lang="en-US" dirty="0"/>
              <a:t>controller serves the request depending on the channel priorities. As soon as the DMA </a:t>
            </a:r>
            <a:r>
              <a:rPr lang="en-US" dirty="0" smtClean="0"/>
              <a:t>Controller </a:t>
            </a:r>
            <a:r>
              <a:rPr lang="en-US" dirty="0"/>
              <a:t>accesses the peripheral, an Acknowledge is sent to the peripheral by the DMA </a:t>
            </a:r>
            <a:r>
              <a:rPr lang="en-US" dirty="0" smtClean="0"/>
              <a:t>Controller</a:t>
            </a:r>
            <a:r>
              <a:rPr lang="en-US" dirty="0"/>
              <a:t>. The peripheral releases its request as soon as it gets the Acknowledge from the </a:t>
            </a:r>
            <a:r>
              <a:rPr lang="en-US" dirty="0" smtClean="0"/>
              <a:t>DMA </a:t>
            </a:r>
            <a:r>
              <a:rPr lang="en-US" dirty="0"/>
              <a:t>Controller. Once the request is </a:t>
            </a:r>
            <a:r>
              <a:rPr lang="en-US" dirty="0" err="1"/>
              <a:t>deasserted</a:t>
            </a:r>
            <a:r>
              <a:rPr lang="en-US" dirty="0"/>
              <a:t> by the peripheral, the DMA Controller </a:t>
            </a:r>
            <a:r>
              <a:rPr lang="en-US" dirty="0" smtClean="0"/>
              <a:t>release </a:t>
            </a:r>
            <a:r>
              <a:rPr lang="en-US" dirty="0"/>
              <a:t>the Acknowledge. If there are more requests, the peripheral can initiate the next </a:t>
            </a:r>
            <a:r>
              <a:rPr lang="en-US" dirty="0" smtClean="0"/>
              <a:t>transaction.</a:t>
            </a:r>
          </a:p>
          <a:p>
            <a:endParaRPr lang="en-US" dirty="0"/>
          </a:p>
          <a:p>
            <a:r>
              <a:rPr lang="en-US" dirty="0"/>
              <a:t>3- Each channel can handle DMA transfer between a peripheral </a:t>
            </a:r>
            <a:r>
              <a:rPr lang="en-US" dirty="0" err="1"/>
              <a:t>registerlocated</a:t>
            </a:r>
            <a:r>
              <a:rPr lang="en-US" dirty="0"/>
              <a:t> at a fixed </a:t>
            </a:r>
            <a:r>
              <a:rPr lang="en-US" dirty="0" smtClean="0"/>
              <a:t>address </a:t>
            </a:r>
            <a:r>
              <a:rPr lang="en-US" dirty="0"/>
              <a:t>and a memory address. The amount of data to be transferred (up to 65535) is </a:t>
            </a:r>
            <a:r>
              <a:rPr lang="en-US" dirty="0" smtClean="0"/>
              <a:t>programmable</a:t>
            </a:r>
            <a:r>
              <a:rPr lang="en-US" dirty="0"/>
              <a:t>. The register which contains the amount of data items to be transferred is </a:t>
            </a:r>
            <a:r>
              <a:rPr lang="en-US" dirty="0" smtClean="0"/>
              <a:t>decremented </a:t>
            </a:r>
            <a:r>
              <a:rPr lang="en-US" dirty="0"/>
              <a:t>after each transaction</a:t>
            </a:r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028471" y="406117"/>
            <a:ext cx="1087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Arbiter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" y="1828800"/>
            <a:ext cx="8077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arbiter manages the channel requests based on their priority and launches the </a:t>
            </a:r>
          </a:p>
          <a:p>
            <a:r>
              <a:rPr lang="en-US" dirty="0"/>
              <a:t>peripheral/memory access sequences.</a:t>
            </a:r>
          </a:p>
          <a:p>
            <a:r>
              <a:rPr lang="en-US" dirty="0"/>
              <a:t>The priorities are managed in two stages:</a:t>
            </a:r>
          </a:p>
          <a:p>
            <a:r>
              <a:rPr lang="en-US" dirty="0"/>
              <a:t>• Software: each channel priority can be configured in the </a:t>
            </a:r>
            <a:r>
              <a:rPr lang="en-US" dirty="0" err="1"/>
              <a:t>DMA_CCRx</a:t>
            </a:r>
            <a:r>
              <a:rPr lang="en-US" dirty="0"/>
              <a:t> register. There </a:t>
            </a:r>
          </a:p>
          <a:p>
            <a:r>
              <a:rPr lang="en-US" dirty="0"/>
              <a:t>are four levels:</a:t>
            </a:r>
          </a:p>
          <a:p>
            <a:r>
              <a:rPr lang="en-US" dirty="0"/>
              <a:t>– Very high priority</a:t>
            </a:r>
          </a:p>
          <a:p>
            <a:r>
              <a:rPr lang="en-US" dirty="0"/>
              <a:t>– High priority</a:t>
            </a:r>
          </a:p>
          <a:p>
            <a:r>
              <a:rPr lang="en-US" dirty="0"/>
              <a:t>– Medium priority</a:t>
            </a:r>
          </a:p>
          <a:p>
            <a:r>
              <a:rPr lang="en-US" dirty="0"/>
              <a:t>– Low priority</a:t>
            </a:r>
          </a:p>
          <a:p>
            <a:r>
              <a:rPr lang="en-US" dirty="0"/>
              <a:t>• Hardware: if 2 requests have the same software priority level, the channel with the </a:t>
            </a:r>
          </a:p>
          <a:p>
            <a:r>
              <a:rPr lang="en-US" dirty="0"/>
              <a:t>lowest number will get priority versus the channel with the highest number. For </a:t>
            </a:r>
          </a:p>
          <a:p>
            <a:r>
              <a:rPr lang="en-US" dirty="0"/>
              <a:t>example, channel 2 gets priority over channel 4.</a:t>
            </a:r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598868" y="406117"/>
            <a:ext cx="194636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HW channels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825" y="1094259"/>
            <a:ext cx="5557837" cy="5270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575624" y="406117"/>
            <a:ext cx="199285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Circular Mode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800" y="1676400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circular mode is activated, the number of data to be transferred is automatically </a:t>
            </a:r>
          </a:p>
          <a:p>
            <a:r>
              <a:rPr lang="en-US" dirty="0"/>
              <a:t>reloaded with the initial value programmed during the </a:t>
            </a:r>
            <a:r>
              <a:rPr lang="en-US" dirty="0" smtClean="0"/>
              <a:t>channel configuration </a:t>
            </a:r>
            <a:r>
              <a:rPr lang="en-US" dirty="0"/>
              <a:t>phase, and the </a:t>
            </a:r>
            <a:r>
              <a:rPr lang="en-US" dirty="0" smtClean="0"/>
              <a:t>DMA </a:t>
            </a:r>
            <a:r>
              <a:rPr lang="en-US" dirty="0"/>
              <a:t>requests continue to be served</a:t>
            </a:r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171668" y="406117"/>
            <a:ext cx="280076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Memory To Memory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800" y="1600200"/>
            <a:ext cx="8305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DMA channels can also work without being triggered by a request from a peripheral. </a:t>
            </a:r>
            <a:r>
              <a:rPr lang="en-US" dirty="0" smtClean="0"/>
              <a:t>This </a:t>
            </a:r>
            <a:r>
              <a:rPr lang="en-US" dirty="0"/>
              <a:t>mode is called Memory to Memory </a:t>
            </a:r>
            <a:r>
              <a:rPr lang="en-US" dirty="0" smtClean="0"/>
              <a:t>mode. If </a:t>
            </a:r>
            <a:r>
              <a:rPr lang="en-US" dirty="0"/>
              <a:t>the MEM2MEM bit in the </a:t>
            </a:r>
            <a:r>
              <a:rPr lang="en-US" dirty="0" err="1"/>
              <a:t>DMA_CCRx</a:t>
            </a:r>
            <a:r>
              <a:rPr lang="en-US" dirty="0"/>
              <a:t> register is set, then the channel </a:t>
            </a:r>
            <a:r>
              <a:rPr lang="en-US" dirty="0" smtClean="0"/>
              <a:t>initiates transfers  as </a:t>
            </a:r>
            <a:r>
              <a:rPr lang="en-US" dirty="0"/>
              <a:t>soon as it is enabled by software by setting the Enable bit (EN) in the </a:t>
            </a:r>
            <a:r>
              <a:rPr lang="en-US" dirty="0" err="1"/>
              <a:t>DMA_CCRx</a:t>
            </a:r>
            <a:r>
              <a:rPr lang="en-US" dirty="0"/>
              <a:t>  register. The transfer stops once the </a:t>
            </a:r>
            <a:r>
              <a:rPr lang="en-US" dirty="0" err="1"/>
              <a:t>DMA_CNDTRx</a:t>
            </a:r>
            <a:r>
              <a:rPr lang="en-US" dirty="0"/>
              <a:t> register reaches zero. Memory to </a:t>
            </a:r>
            <a:r>
              <a:rPr lang="en-US" dirty="0" smtClean="0"/>
              <a:t>Memory </a:t>
            </a:r>
            <a:r>
              <a:rPr lang="en-US" dirty="0"/>
              <a:t>mode may not be used at the same time as Circular mode.</a:t>
            </a:r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645880" y="406117"/>
            <a:ext cx="38523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External Interrupt Controller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645880" y="406117"/>
            <a:ext cx="38523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External Interrupt Controller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645880" y="406117"/>
            <a:ext cx="38523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External Interrupt Controller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645880" y="406117"/>
            <a:ext cx="38523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External Interrupt Controller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645880" y="406117"/>
            <a:ext cx="38523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External Interrupt Controller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645880" y="406117"/>
            <a:ext cx="38523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External Interrupt Controller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7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1000"/>
            <a:ext cx="4515255" cy="27905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59436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smtClean="0"/>
              <a:t>This material is developed by </a:t>
            </a:r>
            <a:r>
              <a:rPr lang="en-US" sz="1200" b="1" i="1" dirty="0" err="1" smtClean="0"/>
              <a:t>IMTSchool</a:t>
            </a:r>
            <a:r>
              <a:rPr lang="en-US" sz="1200" b="1" i="1" dirty="0" smtClean="0"/>
              <a:t> for educational use only</a:t>
            </a:r>
          </a:p>
          <a:p>
            <a:pPr algn="ctr"/>
            <a:r>
              <a:rPr lang="en-US" sz="1200" b="1" i="1" dirty="0" smtClean="0"/>
              <a:t>All copyrights are reserved</a:t>
            </a:r>
            <a:endParaRPr lang="en-US" sz="1200" b="1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384" y="3646251"/>
            <a:ext cx="653616" cy="6536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992" y="4495800"/>
            <a:ext cx="66040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37338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www.imtschool.com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184850" y="4659868"/>
            <a:ext cx="4358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ww.facebook.com/</a:t>
            </a:r>
            <a:r>
              <a:rPr lang="en-US" b="1" dirty="0" err="1" smtClean="0"/>
              <a:t>imaketechnologyschool</a:t>
            </a:r>
            <a:r>
              <a:rPr lang="en-US" b="1" dirty="0" smtClean="0"/>
              <a:t>/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10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2177</TotalTime>
  <Words>544</Words>
  <Application>Microsoft Office PowerPoint</Application>
  <PresentationFormat>On-screen Show (4:3)</PresentationFormat>
  <Paragraphs>59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</dc:creator>
  <cp:lastModifiedBy>Ahmed</cp:lastModifiedBy>
  <cp:revision>124</cp:revision>
  <dcterms:created xsi:type="dcterms:W3CDTF">2017-07-05T23:12:25Z</dcterms:created>
  <dcterms:modified xsi:type="dcterms:W3CDTF">2018-05-12T06:59:07Z</dcterms:modified>
</cp:coreProperties>
</file>